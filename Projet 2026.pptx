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4"/>
  </p:sldMasterIdLst>
  <p:notesMasterIdLst>
    <p:notesMasterId r:id="rId13"/>
  </p:notesMasterIdLst>
  <p:handoutMasterIdLst>
    <p:handoutMasterId r:id="rId14"/>
  </p:handoutMasterIdLst>
  <p:sldIdLst>
    <p:sldId id="11360" r:id="rId5"/>
    <p:sldId id="11363" r:id="rId6"/>
    <p:sldId id="11364" r:id="rId7"/>
    <p:sldId id="11366" r:id="rId8"/>
    <p:sldId id="11365" r:id="rId9"/>
    <p:sldId id="11367" r:id="rId10"/>
    <p:sldId id="11368" r:id="rId11"/>
    <p:sldId id="457" r:id="rId12"/>
  </p:sldIdLst>
  <p:sldSz cx="9144000" cy="5143500" type="screen16x9"/>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a:srgbClr val="000000"/>
    <a:srgbClr val="FFC000"/>
    <a:srgbClr val="0070C0"/>
    <a:srgbClr val="00B050"/>
    <a:srgbClr val="FF0000"/>
    <a:srgbClr val="80FC04"/>
    <a:srgbClr val="27509B"/>
    <a:srgbClr val="9AB5E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E3FDE45-AF77-4B5C-9715-49D594BDF05E}" styleName="Style léger 1 - Accentuation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93296810-A885-4BE3-A3E7-6D5BEEA58F35}" styleName="Style moyen 2 - Accentuation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46F890A9-2807-4EBB-B81D-B2AA78EC7F39}" styleName="Style foncé 2 - Accentuation 5/Accentuation 6">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5">
              <a:tint val="20000"/>
            </a:schemeClr>
          </a:solidFill>
        </a:fill>
      </a:tcStyle>
    </a:lastRow>
    <a:firstRow>
      <a:tcTxStyle b="on">
        <a:fontRef idx="minor">
          <a:scrgbClr r="0" g="0" b="0"/>
        </a:fontRef>
        <a:schemeClr val="lt1"/>
      </a:tcTxStyle>
      <a:tcStyle>
        <a:tcBdr/>
        <a:fill>
          <a:solidFill>
            <a:schemeClr val="accent6"/>
          </a:solidFill>
        </a:fill>
      </a:tcStyle>
    </a:firstRow>
  </a:tblStyle>
  <a:tblStyle styleId="{AF606853-7671-496A-8E4F-DF71F8EC918B}" styleName="Style foncé 1 - Accentuation 6">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6"/>
          </a:solidFill>
        </a:fill>
      </a:tcStyle>
    </a:wholeTbl>
    <a:band1H>
      <a:tcStyle>
        <a:tcBdr/>
        <a:fill>
          <a:solidFill>
            <a:schemeClr val="accent6">
              <a:shade val="60000"/>
            </a:schemeClr>
          </a:solidFill>
        </a:fill>
      </a:tcStyle>
    </a:band1H>
    <a:band1V>
      <a:tcStyle>
        <a:tcBdr/>
        <a:fill>
          <a:solidFill>
            <a:schemeClr val="accent6">
              <a:shade val="60000"/>
            </a:schemeClr>
          </a:solidFill>
        </a:fill>
      </a:tcStyle>
    </a:band1V>
    <a:lastCol>
      <a:tcTxStyle b="on"/>
      <a:tcStyle>
        <a:tcBdr>
          <a:left>
            <a:ln w="25400" cmpd="sng">
              <a:solidFill>
                <a:schemeClr val="lt1"/>
              </a:solidFill>
            </a:ln>
          </a:left>
        </a:tcBdr>
        <a:fill>
          <a:solidFill>
            <a:schemeClr val="accent6">
              <a:shade val="60000"/>
            </a:schemeClr>
          </a:solidFill>
        </a:fill>
      </a:tcStyle>
    </a:lastCol>
    <a:firstCol>
      <a:tcTxStyle b="on"/>
      <a:tcStyle>
        <a:tcBdr>
          <a:right>
            <a:ln w="25400" cmpd="sng">
              <a:solidFill>
                <a:schemeClr val="lt1"/>
              </a:solidFill>
            </a:ln>
          </a:right>
        </a:tcBdr>
        <a:fill>
          <a:solidFill>
            <a:schemeClr val="accent6">
              <a:shade val="60000"/>
            </a:schemeClr>
          </a:solidFill>
        </a:fill>
      </a:tcStyle>
    </a:firstCol>
    <a:lastRow>
      <a:tcTxStyle b="on"/>
      <a:tcStyle>
        <a:tcBdr>
          <a:top>
            <a:ln w="25400" cmpd="sng">
              <a:solidFill>
                <a:schemeClr val="lt1"/>
              </a:solidFill>
            </a:ln>
          </a:top>
        </a:tcBdr>
        <a:fill>
          <a:solidFill>
            <a:schemeClr val="accent6">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E8034E78-7F5D-4C2E-B375-FC64B27BC917}" styleName="Style foncé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left>
            <a:ln w="25400" cmpd="sng">
              <a:solidFill>
                <a:schemeClr val="lt1"/>
              </a:solidFill>
            </a:ln>
          </a:left>
        </a:tcBdr>
        <a:fill>
          <a:solidFill>
            <a:schemeClr val="dk1">
              <a:tint val="60000"/>
            </a:schemeClr>
          </a:solidFill>
        </a:fill>
      </a:tcStyle>
    </a:lastCol>
    <a:firstCol>
      <a:tcTxStyle b="on"/>
      <a:tcStyle>
        <a:tcBdr>
          <a:right>
            <a:ln w="25400" cmpd="sng">
              <a:solidFill>
                <a:schemeClr val="lt1"/>
              </a:solidFill>
            </a:ln>
          </a:right>
        </a:tcBdr>
        <a:fill>
          <a:solidFill>
            <a:schemeClr val="dk1">
              <a:tint val="60000"/>
            </a:schemeClr>
          </a:solidFill>
        </a:fill>
      </a:tcStyle>
    </a:firstCol>
    <a:lastRow>
      <a:tcTxStyle b="on"/>
      <a:tcStyle>
        <a:tcBdr>
          <a:top>
            <a:ln w="25400" cmpd="sng">
              <a:solidFill>
                <a:schemeClr val="lt1"/>
              </a:solidFill>
            </a:ln>
          </a:top>
        </a:tcBdr>
        <a:fill>
          <a:solidFill>
            <a:schemeClr val="dk1">
              <a:tint val="6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9D7B26C5-4107-4FEC-AEDC-1716B250A1EF}" styleName="Style clair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3746" autoAdjust="0"/>
  </p:normalViewPr>
  <p:slideViewPr>
    <p:cSldViewPr snapToGrid="0">
      <p:cViewPr varScale="1">
        <p:scale>
          <a:sx n="106" d="100"/>
          <a:sy n="106" d="100"/>
        </p:scale>
        <p:origin x="778" y="67"/>
      </p:cViewPr>
      <p:guideLst>
        <p:guide orient="horz" pos="1620"/>
        <p:guide pos="2880"/>
      </p:guideLst>
    </p:cSldViewPr>
  </p:slideViewPr>
  <p:notesTextViewPr>
    <p:cViewPr>
      <p:scale>
        <a:sx n="125" d="100"/>
        <a:sy n="125" d="100"/>
      </p:scale>
      <p:origin x="0" y="0"/>
    </p:cViewPr>
  </p:notesTextViewPr>
  <p:notesViewPr>
    <p:cSldViewPr snapToGrid="0">
      <p:cViewPr>
        <p:scale>
          <a:sx n="1" d="2"/>
          <a:sy n="1" d="2"/>
        </p:scale>
        <p:origin x="0" y="0"/>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notesMaster" Target="notesMasters/notesMaster1.xml"/><Relationship Id="rId18" Type="http://schemas.openxmlformats.org/officeDocument/2006/relationships/tableStyles" Target="tableStyle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presProps" Target="presProps.xml"/><Relationship Id="rId10" Type="http://schemas.openxmlformats.org/officeDocument/2006/relationships/slide" Target="slides/slide6.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6C10ECB8-0AC2-42B4-8DC0-E48759C45C5D}" type="datetime1">
              <a:rPr lang="fr-FR" smtClean="0"/>
              <a:t>12/10/2026</a:t>
            </a:fld>
            <a:endParaRPr lang="fr-FR"/>
          </a:p>
        </p:txBody>
      </p:sp>
      <p:sp>
        <p:nvSpPr>
          <p:cNvPr id="4" name="Espace réservé du pied de page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fr-FR"/>
          </a:p>
        </p:txBody>
      </p:sp>
      <p:sp>
        <p:nvSpPr>
          <p:cNvPr id="5" name="Espace réservé du numéro de diapositive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8DBE0E1A-3A01-4839-9290-20DA5CDE188E}" type="slidenum">
              <a:rPr lang="fr-FR" smtClean="0"/>
              <a:t>‹N°›</a:t>
            </a:fld>
            <a:endParaRPr lang="fr-FR"/>
          </a:p>
        </p:txBody>
      </p:sp>
    </p:spTree>
    <p:extLst>
      <p:ext uri="{BB962C8B-B14F-4D97-AF65-F5344CB8AC3E}">
        <p14:creationId xmlns:p14="http://schemas.microsoft.com/office/powerpoint/2010/main" val="3218199328"/>
      </p:ext>
    </p:extLst>
  </p:cSld>
  <p:clrMap bg1="lt1" tx1="dk1" bg2="lt2" tx2="dk2" accent1="accent1" accent2="accent2" accent3="accent3" accent4="accent4" accent5="accent5" accent6="accent6" hlink="hlink" folHlink="folHlink"/>
  <p:hf hdr="0" ftr="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E967A31F-8DC0-483C-A888-73E94EF0CAFA}" type="datetime1">
              <a:rPr lang="fr-FR" smtClean="0"/>
              <a:t>12/10/2026</a:t>
            </a:fld>
            <a:endParaRPr lang="fr-FR"/>
          </a:p>
        </p:txBody>
      </p:sp>
      <p:sp>
        <p:nvSpPr>
          <p:cNvPr id="4" name="Espace réservé de l'image des diapositives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commentaires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E49F9825-1794-48B9-8D02-D39409A52D1F}" type="slidenum">
              <a:rPr lang="fr-FR" smtClean="0"/>
              <a:t>‹N°›</a:t>
            </a:fld>
            <a:endParaRPr lang="fr-FR"/>
          </a:p>
        </p:txBody>
      </p:sp>
    </p:spTree>
    <p:extLst>
      <p:ext uri="{BB962C8B-B14F-4D97-AF65-F5344CB8AC3E}">
        <p14:creationId xmlns:p14="http://schemas.microsoft.com/office/powerpoint/2010/main" val="2313985882"/>
      </p:ext>
    </p:extLst>
  </p:cSld>
  <p:clrMap bg1="lt1" tx1="dk1" bg2="lt2" tx2="dk2" accent1="accent1" accent2="accent2" accent3="accent3" accent4="accent4" accent5="accent5" accent6="accent6" hlink="hlink" folHlink="folHlink"/>
  <p:hf hdr="0" ftr="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pPr marL="0" indent="0">
              <a:buFontTx/>
              <a:buNone/>
            </a:pPr>
            <a:endParaRPr lang="fr-FR" dirty="0"/>
          </a:p>
        </p:txBody>
      </p:sp>
      <p:sp>
        <p:nvSpPr>
          <p:cNvPr id="4" name="Espace réservé de la date 3"/>
          <p:cNvSpPr>
            <a:spLocks noGrp="1"/>
          </p:cNvSpPr>
          <p:nvPr>
            <p:ph type="dt" idx="10"/>
          </p:nvPr>
        </p:nvSpPr>
        <p:spPr/>
        <p:txBody>
          <a:bodyPr/>
          <a:lstStyle/>
          <a:p>
            <a:fld id="{C24C835D-F8A7-4C02-8650-434BCE95E49D}" type="datetime1">
              <a:rPr lang="fr-FR" smtClean="0"/>
              <a:t>12/10/2026</a:t>
            </a:fld>
            <a:endParaRPr lang="fr-FR"/>
          </a:p>
        </p:txBody>
      </p:sp>
      <p:sp>
        <p:nvSpPr>
          <p:cNvPr id="5" name="Espace réservé du numéro de diapositive 4"/>
          <p:cNvSpPr>
            <a:spLocks noGrp="1"/>
          </p:cNvSpPr>
          <p:nvPr>
            <p:ph type="sldNum" sz="quarter" idx="11"/>
          </p:nvPr>
        </p:nvSpPr>
        <p:spPr/>
        <p:txBody>
          <a:bodyPr/>
          <a:lstStyle/>
          <a:p>
            <a:fld id="{E49F9825-1794-48B9-8D02-D39409A52D1F}" type="slidenum">
              <a:rPr lang="fr-FR" smtClean="0"/>
              <a:t>1</a:t>
            </a:fld>
            <a:endParaRPr lang="fr-FR"/>
          </a:p>
        </p:txBody>
      </p:sp>
    </p:spTree>
    <p:extLst>
      <p:ext uri="{BB962C8B-B14F-4D97-AF65-F5344CB8AC3E}">
        <p14:creationId xmlns:p14="http://schemas.microsoft.com/office/powerpoint/2010/main" val="192670366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a:t>-   </a:t>
            </a:r>
            <a:r>
              <a:rPr lang="fr-FR" dirty="0" err="1"/>
              <a:t>Role</a:t>
            </a:r>
            <a:r>
              <a:rPr lang="fr-FR" dirty="0"/>
              <a:t> plastifieur : rendre le mélange de caoutchouc malléable, fluide et parfaitement homogène</a:t>
            </a:r>
          </a:p>
          <a:p>
            <a:pPr marL="171450" indent="-171450">
              <a:buFontTx/>
              <a:buChar char="-"/>
            </a:pPr>
            <a:r>
              <a:rPr lang="fr-FR" dirty="0"/>
              <a:t>Outil </a:t>
            </a:r>
            <a:r>
              <a:rPr lang="fr-FR" dirty="0" err="1"/>
              <a:t>Alimenteur</a:t>
            </a:r>
            <a:r>
              <a:rPr lang="fr-FR" dirty="0"/>
              <a:t> : aérer, modifier l’état du mélange</a:t>
            </a:r>
          </a:p>
          <a:p>
            <a:pPr marL="171450" indent="-171450">
              <a:buFontTx/>
              <a:buChar char="-"/>
            </a:pPr>
            <a:r>
              <a:rPr lang="fr-FR" dirty="0"/>
              <a:t>Calandre : former des fines lamelles de gommes incrustées par des filaments métalliques</a:t>
            </a:r>
          </a:p>
          <a:p>
            <a:pPr marL="171450" indent="-171450">
              <a:buFontTx/>
              <a:buChar char="-"/>
            </a:pPr>
            <a:endParaRPr lang="fr-FR" dirty="0"/>
          </a:p>
          <a:p>
            <a:pPr marL="0" indent="0">
              <a:buFontTx/>
              <a:buNone/>
            </a:pPr>
            <a:r>
              <a:rPr lang="fr-FR" dirty="0"/>
              <a:t>Vulcanisation : état plastique -&gt; état élastique</a:t>
            </a:r>
          </a:p>
        </p:txBody>
      </p:sp>
      <p:sp>
        <p:nvSpPr>
          <p:cNvPr id="4" name="Espace réservé de la date 3"/>
          <p:cNvSpPr>
            <a:spLocks noGrp="1"/>
          </p:cNvSpPr>
          <p:nvPr>
            <p:ph type="dt" idx="1"/>
          </p:nvPr>
        </p:nvSpPr>
        <p:spPr/>
        <p:txBody>
          <a:bodyPr/>
          <a:lstStyle/>
          <a:p>
            <a:fld id="{E967A31F-8DC0-483C-A888-73E94EF0CAFA}" type="datetime1">
              <a:rPr lang="fr-FR" smtClean="0"/>
              <a:t>12/10/2026</a:t>
            </a:fld>
            <a:endParaRPr lang="fr-FR"/>
          </a:p>
        </p:txBody>
      </p:sp>
      <p:sp>
        <p:nvSpPr>
          <p:cNvPr id="5" name="Espace réservé du numéro de diapositive 4"/>
          <p:cNvSpPr>
            <a:spLocks noGrp="1"/>
          </p:cNvSpPr>
          <p:nvPr>
            <p:ph type="sldNum" sz="quarter" idx="5"/>
          </p:nvPr>
        </p:nvSpPr>
        <p:spPr/>
        <p:txBody>
          <a:bodyPr/>
          <a:lstStyle/>
          <a:p>
            <a:fld id="{E49F9825-1794-48B9-8D02-D39409A52D1F}" type="slidenum">
              <a:rPr lang="fr-FR" smtClean="0"/>
              <a:t>2</a:t>
            </a:fld>
            <a:endParaRPr lang="fr-FR"/>
          </a:p>
        </p:txBody>
      </p:sp>
    </p:spTree>
    <p:extLst>
      <p:ext uri="{BB962C8B-B14F-4D97-AF65-F5344CB8AC3E}">
        <p14:creationId xmlns:p14="http://schemas.microsoft.com/office/powerpoint/2010/main" val="39770462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a:t>2 objectifs : savoir si une config évite la vulcanisation ou pas + relations entre </a:t>
            </a:r>
            <a:r>
              <a:rPr lang="fr-FR" dirty="0" err="1"/>
              <a:t>configs</a:t>
            </a:r>
            <a:r>
              <a:rPr lang="fr-FR" dirty="0"/>
              <a:t> &amp; signal température</a:t>
            </a:r>
          </a:p>
        </p:txBody>
      </p:sp>
      <p:sp>
        <p:nvSpPr>
          <p:cNvPr id="4" name="Espace réservé de la date 3"/>
          <p:cNvSpPr>
            <a:spLocks noGrp="1"/>
          </p:cNvSpPr>
          <p:nvPr>
            <p:ph type="dt" idx="1"/>
          </p:nvPr>
        </p:nvSpPr>
        <p:spPr/>
        <p:txBody>
          <a:bodyPr/>
          <a:lstStyle/>
          <a:p>
            <a:fld id="{E967A31F-8DC0-483C-A888-73E94EF0CAFA}" type="datetime1">
              <a:rPr lang="fr-FR" smtClean="0"/>
              <a:t>12/10/2026</a:t>
            </a:fld>
            <a:endParaRPr lang="fr-FR"/>
          </a:p>
        </p:txBody>
      </p:sp>
      <p:sp>
        <p:nvSpPr>
          <p:cNvPr id="5" name="Espace réservé du numéro de diapositive 4"/>
          <p:cNvSpPr>
            <a:spLocks noGrp="1"/>
          </p:cNvSpPr>
          <p:nvPr>
            <p:ph type="sldNum" sz="quarter" idx="5"/>
          </p:nvPr>
        </p:nvSpPr>
        <p:spPr/>
        <p:txBody>
          <a:bodyPr/>
          <a:lstStyle/>
          <a:p>
            <a:fld id="{E49F9825-1794-48B9-8D02-D39409A52D1F}" type="slidenum">
              <a:rPr lang="fr-FR" smtClean="0"/>
              <a:t>3</a:t>
            </a:fld>
            <a:endParaRPr lang="fr-FR"/>
          </a:p>
        </p:txBody>
      </p:sp>
    </p:spTree>
    <p:extLst>
      <p:ext uri="{BB962C8B-B14F-4D97-AF65-F5344CB8AC3E}">
        <p14:creationId xmlns:p14="http://schemas.microsoft.com/office/powerpoint/2010/main" val="396972511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a:p>
        </p:txBody>
      </p:sp>
      <p:sp>
        <p:nvSpPr>
          <p:cNvPr id="4" name="Espace réservé de la date 3"/>
          <p:cNvSpPr>
            <a:spLocks noGrp="1"/>
          </p:cNvSpPr>
          <p:nvPr>
            <p:ph type="dt" idx="10"/>
          </p:nvPr>
        </p:nvSpPr>
        <p:spPr/>
        <p:txBody>
          <a:bodyPr/>
          <a:lstStyle/>
          <a:p>
            <a:fld id="{C24C835D-F8A7-4C02-8650-434BCE95E49D}" type="datetime1">
              <a:rPr lang="fr-FR" smtClean="0"/>
              <a:t>12/10/2026</a:t>
            </a:fld>
            <a:endParaRPr lang="fr-FR"/>
          </a:p>
        </p:txBody>
      </p:sp>
      <p:sp>
        <p:nvSpPr>
          <p:cNvPr id="5" name="Espace réservé du numéro de diapositive 4"/>
          <p:cNvSpPr>
            <a:spLocks noGrp="1"/>
          </p:cNvSpPr>
          <p:nvPr>
            <p:ph type="sldNum" sz="quarter" idx="11"/>
          </p:nvPr>
        </p:nvSpPr>
        <p:spPr/>
        <p:txBody>
          <a:bodyPr/>
          <a:lstStyle/>
          <a:p>
            <a:fld id="{E49F9825-1794-48B9-8D02-D39409A52D1F}" type="slidenum">
              <a:rPr lang="fr-FR" smtClean="0"/>
              <a:t>8</a:t>
            </a:fld>
            <a:endParaRPr lang="fr-FR"/>
          </a:p>
        </p:txBody>
      </p:sp>
    </p:spTree>
    <p:extLst>
      <p:ext uri="{BB962C8B-B14F-4D97-AF65-F5344CB8AC3E}">
        <p14:creationId xmlns:p14="http://schemas.microsoft.com/office/powerpoint/2010/main" val="1511885627"/>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_Diapositive de titre">
    <p:spTree>
      <p:nvGrpSpPr>
        <p:cNvPr id="1" name=""/>
        <p:cNvGrpSpPr/>
        <p:nvPr/>
      </p:nvGrpSpPr>
      <p:grpSpPr>
        <a:xfrm>
          <a:off x="0" y="0"/>
          <a:ext cx="0" cy="0"/>
          <a:chOff x="0" y="0"/>
          <a:chExt cx="0" cy="0"/>
        </a:xfrm>
      </p:grpSpPr>
      <p:pic>
        <p:nvPicPr>
          <p:cNvPr id="2" name="Rectangle 1" descr="preencoded.png">
            <a:extLst>
              <a:ext uri="{FF2B5EF4-FFF2-40B4-BE49-F238E27FC236}">
                <a16:creationId xmlns:a16="http://schemas.microsoft.com/office/drawing/2014/main" id="{CB36DE67-97C1-2211-CE8B-DBE374BBF71D}"/>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0"/>
            <a:ext cx="9144000" cy="5143500"/>
          </a:xfrm>
          <a:prstGeom prst="rect">
            <a:avLst/>
          </a:prstGeom>
        </p:spPr>
      </p:pic>
      <p:pic>
        <p:nvPicPr>
          <p:cNvPr id="4" name="FOOTER blanc" descr="preencoded.png">
            <a:extLst>
              <a:ext uri="{FF2B5EF4-FFF2-40B4-BE49-F238E27FC236}">
                <a16:creationId xmlns:a16="http://schemas.microsoft.com/office/drawing/2014/main" id="{7E31AF08-2749-EE05-3F15-F2ADED05D47E}"/>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0" y="4529137"/>
            <a:ext cx="9144000" cy="614363"/>
          </a:xfrm>
          <a:prstGeom prst="rect">
            <a:avLst/>
          </a:prstGeom>
        </p:spPr>
      </p:pic>
      <p:sp>
        <p:nvSpPr>
          <p:cNvPr id="12" name="Espace réservé du texte 11">
            <a:extLst>
              <a:ext uri="{FF2B5EF4-FFF2-40B4-BE49-F238E27FC236}">
                <a16:creationId xmlns:a16="http://schemas.microsoft.com/office/drawing/2014/main" id="{9BEE2B53-DC35-89B7-27CC-8BFA876524AC}"/>
              </a:ext>
            </a:extLst>
          </p:cNvPr>
          <p:cNvSpPr>
            <a:spLocks noGrp="1"/>
          </p:cNvSpPr>
          <p:nvPr>
            <p:ph type="body" sz="quarter" idx="10" hasCustomPrompt="1"/>
          </p:nvPr>
        </p:nvSpPr>
        <p:spPr>
          <a:xfrm>
            <a:off x="285750" y="2297510"/>
            <a:ext cx="8572500" cy="548481"/>
          </a:xfrm>
        </p:spPr>
        <p:txBody>
          <a:bodyPr/>
          <a:lstStyle>
            <a:lvl1pPr algn="ctr">
              <a:buNone/>
              <a:defRPr sz="3200">
                <a:solidFill>
                  <a:schemeClr val="bg1"/>
                </a:solidFill>
                <a:latin typeface="Michelin Black" panose="02000000000000000000" pitchFamily="2" charset="0"/>
              </a:defRPr>
            </a:lvl1pPr>
          </a:lstStyle>
          <a:p>
            <a:pPr lvl="0"/>
            <a:r>
              <a:rPr lang="fr-FR" dirty="0"/>
              <a:t>HEADER</a:t>
            </a:r>
          </a:p>
        </p:txBody>
      </p:sp>
    </p:spTree>
    <p:extLst>
      <p:ext uri="{BB962C8B-B14F-4D97-AF65-F5344CB8AC3E}">
        <p14:creationId xmlns:p14="http://schemas.microsoft.com/office/powerpoint/2010/main" val="224867795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Vide">
    <p:spTree>
      <p:nvGrpSpPr>
        <p:cNvPr id="1" name=""/>
        <p:cNvGrpSpPr/>
        <p:nvPr/>
      </p:nvGrpSpPr>
      <p:grpSpPr>
        <a:xfrm>
          <a:off x="0" y="0"/>
          <a:ext cx="0" cy="0"/>
          <a:chOff x="0" y="0"/>
          <a:chExt cx="0" cy="0"/>
        </a:xfrm>
      </p:grpSpPr>
      <p:grpSp>
        <p:nvGrpSpPr>
          <p:cNvPr id="2" name="Groupe 1">
            <a:extLst>
              <a:ext uri="{FF2B5EF4-FFF2-40B4-BE49-F238E27FC236}">
                <a16:creationId xmlns:a16="http://schemas.microsoft.com/office/drawing/2014/main" id="{97864F16-B29B-E349-26B0-AFB319533026}"/>
              </a:ext>
            </a:extLst>
          </p:cNvPr>
          <p:cNvGrpSpPr/>
          <p:nvPr userDrawn="1"/>
        </p:nvGrpSpPr>
        <p:grpSpPr>
          <a:xfrm>
            <a:off x="0" y="0"/>
            <a:ext cx="9144000" cy="5143500"/>
            <a:chOff x="0" y="0"/>
            <a:chExt cx="12192000" cy="6858000"/>
          </a:xfrm>
        </p:grpSpPr>
        <p:grpSp>
          <p:nvGrpSpPr>
            <p:cNvPr id="3" name="Groupe 2">
              <a:extLst>
                <a:ext uri="{FF2B5EF4-FFF2-40B4-BE49-F238E27FC236}">
                  <a16:creationId xmlns:a16="http://schemas.microsoft.com/office/drawing/2014/main" id="{FF5693AC-07A1-B1F9-D289-BD1DF80DAA76}"/>
                </a:ext>
              </a:extLst>
            </p:cNvPr>
            <p:cNvGrpSpPr/>
            <p:nvPr/>
          </p:nvGrpSpPr>
          <p:grpSpPr>
            <a:xfrm>
              <a:off x="0" y="0"/>
              <a:ext cx="12192000" cy="6858000"/>
              <a:chOff x="0" y="0"/>
              <a:chExt cx="12192000" cy="6858000"/>
            </a:xfrm>
          </p:grpSpPr>
          <p:grpSp>
            <p:nvGrpSpPr>
              <p:cNvPr id="5" name="Groupe 4">
                <a:extLst>
                  <a:ext uri="{FF2B5EF4-FFF2-40B4-BE49-F238E27FC236}">
                    <a16:creationId xmlns:a16="http://schemas.microsoft.com/office/drawing/2014/main" id="{44CF8745-8BC3-BCE1-E7A7-2CC8330BB0ED}"/>
                  </a:ext>
                </a:extLst>
              </p:cNvPr>
              <p:cNvGrpSpPr/>
              <p:nvPr/>
            </p:nvGrpSpPr>
            <p:grpSpPr>
              <a:xfrm>
                <a:off x="218444" y="1319"/>
                <a:ext cx="11973556" cy="547200"/>
                <a:chOff x="218444" y="201787"/>
                <a:chExt cx="11973556" cy="547200"/>
              </a:xfrm>
            </p:grpSpPr>
            <p:sp>
              <p:nvSpPr>
                <p:cNvPr id="13" name="Rectangle 12">
                  <a:extLst>
                    <a:ext uri="{FF2B5EF4-FFF2-40B4-BE49-F238E27FC236}">
                      <a16:creationId xmlns:a16="http://schemas.microsoft.com/office/drawing/2014/main" id="{BC948E9E-F237-D006-D958-8597F605F5E4}"/>
                    </a:ext>
                  </a:extLst>
                </p:cNvPr>
                <p:cNvSpPr/>
                <p:nvPr/>
              </p:nvSpPr>
              <p:spPr>
                <a:xfrm>
                  <a:off x="6940979" y="201787"/>
                  <a:ext cx="5251021" cy="547200"/>
                </a:xfrm>
                <a:prstGeom prst="rect">
                  <a:avLst/>
                </a:prstGeom>
                <a:gradFill flip="none" rotWithShape="1">
                  <a:gsLst>
                    <a:gs pos="0">
                      <a:srgbClr val="0F5CAB">
                        <a:shade val="30000"/>
                        <a:satMod val="115000"/>
                      </a:srgbClr>
                    </a:gs>
                    <a:gs pos="50000">
                      <a:srgbClr val="0F5CAB">
                        <a:shade val="67500"/>
                        <a:satMod val="115000"/>
                      </a:srgbClr>
                    </a:gs>
                    <a:gs pos="100000">
                      <a:srgbClr val="0F5CAB">
                        <a:shade val="100000"/>
                        <a:satMod val="115000"/>
                      </a:srgbClr>
                    </a:gs>
                  </a:gsLst>
                  <a:lin ang="108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fr-FR" sz="1600"/>
                </a:p>
              </p:txBody>
            </p:sp>
            <p:sp>
              <p:nvSpPr>
                <p:cNvPr id="14" name="Rectangle : avec coins arrondis en haut 13">
                  <a:extLst>
                    <a:ext uri="{FF2B5EF4-FFF2-40B4-BE49-F238E27FC236}">
                      <a16:creationId xmlns:a16="http://schemas.microsoft.com/office/drawing/2014/main" id="{25F3167B-9371-12E2-E1F8-F4CEDF1145D1}"/>
                    </a:ext>
                  </a:extLst>
                </p:cNvPr>
                <p:cNvSpPr/>
                <p:nvPr/>
              </p:nvSpPr>
              <p:spPr>
                <a:xfrm rot="5400000">
                  <a:off x="6685967" y="-2869013"/>
                  <a:ext cx="547200" cy="6688800"/>
                </a:xfrm>
                <a:prstGeom prst="round2SameRect">
                  <a:avLst>
                    <a:gd name="adj1" fmla="val 50000"/>
                    <a:gd name="adj2" fmla="val 0"/>
                  </a:avLst>
                </a:prstGeom>
                <a:gradFill flip="none" rotWithShape="1">
                  <a:gsLst>
                    <a:gs pos="0">
                      <a:srgbClr val="1AC6E3">
                        <a:shade val="30000"/>
                        <a:satMod val="115000"/>
                      </a:srgbClr>
                    </a:gs>
                    <a:gs pos="50000">
                      <a:srgbClr val="1AC6E3">
                        <a:shade val="67500"/>
                        <a:satMod val="115000"/>
                      </a:srgbClr>
                    </a:gs>
                    <a:gs pos="100000">
                      <a:srgbClr val="1AC6E3">
                        <a:shade val="100000"/>
                        <a:satMod val="115000"/>
                      </a:srgbClr>
                    </a:gs>
                  </a:gsLst>
                  <a:lin ang="162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fr-FR" sz="1600" dirty="0"/>
                </a:p>
              </p:txBody>
            </p:sp>
            <p:sp>
              <p:nvSpPr>
                <p:cNvPr id="15" name="Rectangle : avec coins arrondis en haut 14">
                  <a:extLst>
                    <a:ext uri="{FF2B5EF4-FFF2-40B4-BE49-F238E27FC236}">
                      <a16:creationId xmlns:a16="http://schemas.microsoft.com/office/drawing/2014/main" id="{C610E384-468A-FCBC-B502-710B5A91A5BD}"/>
                    </a:ext>
                  </a:extLst>
                </p:cNvPr>
                <p:cNvSpPr/>
                <p:nvPr/>
              </p:nvSpPr>
              <p:spPr>
                <a:xfrm rot="5400000">
                  <a:off x="3289421" y="-2868819"/>
                  <a:ext cx="546458" cy="6688412"/>
                </a:xfrm>
                <a:prstGeom prst="round2SameRect">
                  <a:avLst>
                    <a:gd name="adj1" fmla="val 50000"/>
                    <a:gd name="adj2" fmla="val 0"/>
                  </a:avLst>
                </a:prstGeom>
                <a:gradFill flip="none" rotWithShape="1">
                  <a:gsLst>
                    <a:gs pos="12000">
                      <a:srgbClr val="0F5CAB">
                        <a:shade val="30000"/>
                        <a:satMod val="115000"/>
                      </a:srgbClr>
                    </a:gs>
                    <a:gs pos="50000">
                      <a:srgbClr val="0F5CAB">
                        <a:shade val="67500"/>
                        <a:satMod val="115000"/>
                      </a:srgbClr>
                    </a:gs>
                    <a:gs pos="100000">
                      <a:srgbClr val="0F5CAB">
                        <a:shade val="100000"/>
                        <a:satMod val="115000"/>
                      </a:srgbClr>
                    </a:gs>
                  </a:gsLst>
                  <a:lin ang="162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fr-FR" sz="1600"/>
                </a:p>
              </p:txBody>
            </p:sp>
          </p:grpSp>
          <p:grpSp>
            <p:nvGrpSpPr>
              <p:cNvPr id="6" name="Groupe 5">
                <a:extLst>
                  <a:ext uri="{FF2B5EF4-FFF2-40B4-BE49-F238E27FC236}">
                    <a16:creationId xmlns:a16="http://schemas.microsoft.com/office/drawing/2014/main" id="{857657C5-39F4-023E-6FC8-1277853DC8B5}"/>
                  </a:ext>
                </a:extLst>
              </p:cNvPr>
              <p:cNvGrpSpPr/>
              <p:nvPr/>
            </p:nvGrpSpPr>
            <p:grpSpPr>
              <a:xfrm>
                <a:off x="0" y="0"/>
                <a:ext cx="12192000" cy="6858000"/>
                <a:chOff x="0" y="0"/>
                <a:chExt cx="12192000" cy="6858000"/>
              </a:xfrm>
              <a:gradFill flip="none" rotWithShape="1">
                <a:gsLst>
                  <a:gs pos="0">
                    <a:srgbClr val="0F5CAB">
                      <a:shade val="30000"/>
                      <a:satMod val="115000"/>
                    </a:srgbClr>
                  </a:gs>
                  <a:gs pos="50000">
                    <a:srgbClr val="0F5CAB">
                      <a:shade val="67500"/>
                      <a:satMod val="115000"/>
                    </a:srgbClr>
                  </a:gs>
                  <a:gs pos="100000">
                    <a:srgbClr val="0F5CAB">
                      <a:shade val="100000"/>
                      <a:satMod val="115000"/>
                    </a:srgbClr>
                  </a:gs>
                </a:gsLst>
                <a:lin ang="2700000" scaled="1"/>
                <a:tileRect/>
              </a:gradFill>
            </p:grpSpPr>
            <p:sp>
              <p:nvSpPr>
                <p:cNvPr id="10" name="Rectangle 9">
                  <a:extLst>
                    <a:ext uri="{FF2B5EF4-FFF2-40B4-BE49-F238E27FC236}">
                      <a16:creationId xmlns:a16="http://schemas.microsoft.com/office/drawing/2014/main" id="{C9DEA297-E819-8F9F-1459-5005DA14678B}"/>
                    </a:ext>
                  </a:extLst>
                </p:cNvPr>
                <p:cNvSpPr/>
                <p:nvPr/>
              </p:nvSpPr>
              <p:spPr>
                <a:xfrm>
                  <a:off x="0" y="0"/>
                  <a:ext cx="222039" cy="6858000"/>
                </a:xfrm>
                <a:prstGeom prst="rect">
                  <a:avLst/>
                </a:prstGeom>
                <a:gradFill flip="none" rotWithShape="1">
                  <a:gsLst>
                    <a:gs pos="17000">
                      <a:srgbClr val="0F5CAB">
                        <a:shade val="30000"/>
                        <a:satMod val="115000"/>
                      </a:srgbClr>
                    </a:gs>
                    <a:gs pos="50000">
                      <a:srgbClr val="0F5CAB">
                        <a:shade val="67500"/>
                        <a:satMod val="115000"/>
                      </a:srgbClr>
                    </a:gs>
                    <a:gs pos="100000">
                      <a:srgbClr val="0F5CAB">
                        <a:shade val="100000"/>
                        <a:satMod val="115000"/>
                      </a:srgbClr>
                    </a:gs>
                  </a:gsLst>
                  <a:lin ang="54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fr-FR" sz="1600" dirty="0"/>
                </a:p>
              </p:txBody>
            </p:sp>
            <p:cxnSp>
              <p:nvCxnSpPr>
                <p:cNvPr id="11" name="Connecteur droit 10">
                  <a:extLst>
                    <a:ext uri="{FF2B5EF4-FFF2-40B4-BE49-F238E27FC236}">
                      <a16:creationId xmlns:a16="http://schemas.microsoft.com/office/drawing/2014/main" id="{D641A26D-5BC0-0FC4-740D-4259F30A49CB}"/>
                    </a:ext>
                  </a:extLst>
                </p:cNvPr>
                <p:cNvCxnSpPr/>
                <p:nvPr/>
              </p:nvCxnSpPr>
              <p:spPr>
                <a:xfrm flipH="1">
                  <a:off x="10735733" y="6426200"/>
                  <a:ext cx="1456267" cy="0"/>
                </a:xfrm>
                <a:prstGeom prst="line">
                  <a:avLst/>
                </a:prstGeom>
                <a:grpFill/>
                <a:ln>
                  <a:noFill/>
                </a:ln>
              </p:spPr>
              <p:style>
                <a:lnRef idx="2">
                  <a:schemeClr val="accent1">
                    <a:shade val="15000"/>
                  </a:schemeClr>
                </a:lnRef>
                <a:fillRef idx="1">
                  <a:schemeClr val="accent1"/>
                </a:fillRef>
                <a:effectRef idx="0">
                  <a:schemeClr val="accent1"/>
                </a:effectRef>
                <a:fontRef idx="minor">
                  <a:schemeClr val="lt1"/>
                </a:fontRef>
              </p:style>
            </p:cxnSp>
            <p:cxnSp>
              <p:nvCxnSpPr>
                <p:cNvPr id="12" name="Connecteur droit 11">
                  <a:extLst>
                    <a:ext uri="{FF2B5EF4-FFF2-40B4-BE49-F238E27FC236}">
                      <a16:creationId xmlns:a16="http://schemas.microsoft.com/office/drawing/2014/main" id="{AEAB2A98-E1D2-0231-FA62-3DBCFA90642A}"/>
                    </a:ext>
                  </a:extLst>
                </p:cNvPr>
                <p:cNvCxnSpPr>
                  <a:cxnSpLocks/>
                </p:cNvCxnSpPr>
                <p:nvPr/>
              </p:nvCxnSpPr>
              <p:spPr>
                <a:xfrm flipH="1">
                  <a:off x="9931400" y="6426200"/>
                  <a:ext cx="488524" cy="0"/>
                </a:xfrm>
                <a:prstGeom prst="line">
                  <a:avLst/>
                </a:prstGeom>
                <a:grpFill/>
                <a:ln>
                  <a:noFill/>
                </a:ln>
              </p:spPr>
              <p:style>
                <a:lnRef idx="2">
                  <a:schemeClr val="accent1">
                    <a:shade val="15000"/>
                  </a:schemeClr>
                </a:lnRef>
                <a:fillRef idx="1">
                  <a:schemeClr val="accent1"/>
                </a:fillRef>
                <a:effectRef idx="0">
                  <a:schemeClr val="accent1"/>
                </a:effectRef>
                <a:fontRef idx="minor">
                  <a:schemeClr val="lt1"/>
                </a:fontRef>
              </p:style>
            </p:cxnSp>
          </p:grpSp>
          <p:sp>
            <p:nvSpPr>
              <p:cNvPr id="7" name="Rectangle : coins arrondis 6">
                <a:extLst>
                  <a:ext uri="{FF2B5EF4-FFF2-40B4-BE49-F238E27FC236}">
                    <a16:creationId xmlns:a16="http://schemas.microsoft.com/office/drawing/2014/main" id="{E9E76BBD-34B3-78B1-71DA-00AFDA8880FA}"/>
                  </a:ext>
                </a:extLst>
              </p:cNvPr>
              <p:cNvSpPr/>
              <p:nvPr/>
            </p:nvSpPr>
            <p:spPr>
              <a:xfrm flipV="1">
                <a:off x="9143903" y="143663"/>
                <a:ext cx="1031759" cy="262513"/>
              </a:xfrm>
              <a:prstGeom prst="roundRect">
                <a:avLst>
                  <a:gd name="adj" fmla="val 50000"/>
                </a:avLst>
              </a:prstGeom>
              <a:solidFill>
                <a:srgbClr val="0F5CA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fr-FR" sz="1600"/>
              </a:p>
            </p:txBody>
          </p:sp>
          <p:sp>
            <p:nvSpPr>
              <p:cNvPr id="8" name="Rectangle : coins arrondis 7">
                <a:extLst>
                  <a:ext uri="{FF2B5EF4-FFF2-40B4-BE49-F238E27FC236}">
                    <a16:creationId xmlns:a16="http://schemas.microsoft.com/office/drawing/2014/main" id="{3F951A3A-A575-922E-ECE7-C7397419B68C}"/>
                  </a:ext>
                </a:extLst>
              </p:cNvPr>
              <p:cNvSpPr/>
              <p:nvPr/>
            </p:nvSpPr>
            <p:spPr>
              <a:xfrm flipV="1">
                <a:off x="8477342" y="143663"/>
                <a:ext cx="538255" cy="262512"/>
              </a:xfrm>
              <a:prstGeom prst="roundRect">
                <a:avLst>
                  <a:gd name="adj" fmla="val 50000"/>
                </a:avLst>
              </a:prstGeom>
              <a:solidFill>
                <a:srgbClr val="0F5CA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fr-FR" sz="1600"/>
              </a:p>
            </p:txBody>
          </p:sp>
          <p:sp>
            <p:nvSpPr>
              <p:cNvPr id="9" name="Rectangle : coins arrondis 8">
                <a:extLst>
                  <a:ext uri="{FF2B5EF4-FFF2-40B4-BE49-F238E27FC236}">
                    <a16:creationId xmlns:a16="http://schemas.microsoft.com/office/drawing/2014/main" id="{30D0644D-364D-C3B6-6D7A-3E5EF624C544}"/>
                  </a:ext>
                </a:extLst>
              </p:cNvPr>
              <p:cNvSpPr/>
              <p:nvPr/>
            </p:nvSpPr>
            <p:spPr>
              <a:xfrm flipV="1">
                <a:off x="7602819" y="143663"/>
                <a:ext cx="313001" cy="262512"/>
              </a:xfrm>
              <a:prstGeom prst="roundRect">
                <a:avLst>
                  <a:gd name="adj" fmla="val 50000"/>
                </a:avLst>
              </a:prstGeom>
              <a:solidFill>
                <a:srgbClr val="0F5CA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fr-FR" sz="1600"/>
              </a:p>
            </p:txBody>
          </p:sp>
        </p:grpSp>
        <p:sp>
          <p:nvSpPr>
            <p:cNvPr id="4" name="Forme libre : forme 3">
              <a:extLst>
                <a:ext uri="{FF2B5EF4-FFF2-40B4-BE49-F238E27FC236}">
                  <a16:creationId xmlns:a16="http://schemas.microsoft.com/office/drawing/2014/main" id="{8BAD9180-8122-8C03-85C2-92115582BB61}"/>
                </a:ext>
              </a:extLst>
            </p:cNvPr>
            <p:cNvSpPr/>
            <p:nvPr/>
          </p:nvSpPr>
          <p:spPr>
            <a:xfrm rot="10800000">
              <a:off x="218444" y="542640"/>
              <a:ext cx="684137" cy="684137"/>
            </a:xfrm>
            <a:custGeom>
              <a:avLst/>
              <a:gdLst>
                <a:gd name="csX0" fmla="*/ 684137 w 684137"/>
                <a:gd name="csY0" fmla="*/ 0 h 684137"/>
                <a:gd name="csX1" fmla="*/ 684137 w 684137"/>
                <a:gd name="csY1" fmla="*/ 684137 h 684137"/>
                <a:gd name="csX2" fmla="*/ 0 w 684137"/>
                <a:gd name="csY2" fmla="*/ 684137 h 684137"/>
                <a:gd name="csX3" fmla="*/ 137870 w 684137"/>
                <a:gd name="csY3" fmla="*/ 670239 h 684137"/>
                <a:gd name="csX4" fmla="*/ 670239 w 684137"/>
                <a:gd name="csY4" fmla="*/ 137870 h 684137"/>
              </a:gdLst>
              <a:ahLst/>
              <a:cxnLst>
                <a:cxn ang="0">
                  <a:pos x="csX0" y="csY0"/>
                </a:cxn>
                <a:cxn ang="0">
                  <a:pos x="csX1" y="csY1"/>
                </a:cxn>
                <a:cxn ang="0">
                  <a:pos x="csX2" y="csY2"/>
                </a:cxn>
                <a:cxn ang="0">
                  <a:pos x="csX3" y="csY3"/>
                </a:cxn>
                <a:cxn ang="0">
                  <a:pos x="csX4" y="csY4"/>
                </a:cxn>
              </a:cxnLst>
              <a:rect l="l" t="t" r="r" b="b"/>
              <a:pathLst>
                <a:path w="684137" h="684137">
                  <a:moveTo>
                    <a:pt x="684137" y="0"/>
                  </a:moveTo>
                  <a:lnTo>
                    <a:pt x="684137" y="684137"/>
                  </a:lnTo>
                  <a:lnTo>
                    <a:pt x="0" y="684137"/>
                  </a:lnTo>
                  <a:lnTo>
                    <a:pt x="137870" y="670239"/>
                  </a:lnTo>
                  <a:cubicBezTo>
                    <a:pt x="405089" y="615558"/>
                    <a:pt x="615558" y="405089"/>
                    <a:pt x="670239" y="137870"/>
                  </a:cubicBezTo>
                  <a:close/>
                </a:path>
              </a:pathLst>
            </a:custGeom>
            <a:solidFill>
              <a:srgbClr val="00326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fr-FR" sz="1600"/>
            </a:p>
          </p:txBody>
        </p:sp>
      </p:grpSp>
      <p:pic>
        <p:nvPicPr>
          <p:cNvPr id="18" name="FOOTER bleu">
            <a:extLst>
              <a:ext uri="{FF2B5EF4-FFF2-40B4-BE49-F238E27FC236}">
                <a16:creationId xmlns:a16="http://schemas.microsoft.com/office/drawing/2014/main" id="{3B182796-C158-0103-F791-DE625E85ADBF}"/>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0" y="4529004"/>
            <a:ext cx="9145984" cy="614496"/>
          </a:xfrm>
          <a:prstGeom prst="rect">
            <a:avLst/>
          </a:prstGeom>
        </p:spPr>
      </p:pic>
      <p:sp>
        <p:nvSpPr>
          <p:cNvPr id="23" name="Espace réservé de la date 22">
            <a:extLst>
              <a:ext uri="{FF2B5EF4-FFF2-40B4-BE49-F238E27FC236}">
                <a16:creationId xmlns:a16="http://schemas.microsoft.com/office/drawing/2014/main" id="{EF4B7E0D-593B-841A-4FDE-9017E13E9E7B}"/>
              </a:ext>
            </a:extLst>
          </p:cNvPr>
          <p:cNvSpPr>
            <a:spLocks noGrp="1"/>
          </p:cNvSpPr>
          <p:nvPr>
            <p:ph type="dt" sz="half" idx="10"/>
          </p:nvPr>
        </p:nvSpPr>
        <p:spPr/>
        <p:txBody>
          <a:bodyPr/>
          <a:lstStyle/>
          <a:p>
            <a:fld id="{2A46E70E-A915-40E8-91AD-E4955A24A355}" type="datetimeFigureOut">
              <a:rPr lang="fr-FR" smtClean="0"/>
              <a:t>12/10/2026</a:t>
            </a:fld>
            <a:endParaRPr lang="fr-FR"/>
          </a:p>
        </p:txBody>
      </p:sp>
      <p:sp>
        <p:nvSpPr>
          <p:cNvPr id="25" name="Espace réservé du numéro de diapositive 24">
            <a:extLst>
              <a:ext uri="{FF2B5EF4-FFF2-40B4-BE49-F238E27FC236}">
                <a16:creationId xmlns:a16="http://schemas.microsoft.com/office/drawing/2014/main" id="{60F9F881-116C-0B2F-0C5C-BF0E5F8AD24C}"/>
              </a:ext>
            </a:extLst>
          </p:cNvPr>
          <p:cNvSpPr>
            <a:spLocks noGrp="1"/>
          </p:cNvSpPr>
          <p:nvPr>
            <p:ph type="sldNum" sz="quarter" idx="12"/>
          </p:nvPr>
        </p:nvSpPr>
        <p:spPr>
          <a:xfrm>
            <a:off x="6457950" y="4767263"/>
            <a:ext cx="988616" cy="274637"/>
          </a:xfrm>
        </p:spPr>
        <p:txBody>
          <a:bodyPr/>
          <a:lstStyle/>
          <a:p>
            <a:fld id="{5AAD2969-E1F0-498B-B7DA-E38387721689}" type="slidenum">
              <a:rPr lang="fr-FR" smtClean="0"/>
              <a:t>‹N°›</a:t>
            </a:fld>
            <a:endParaRPr lang="fr-FR" dirty="0"/>
          </a:p>
        </p:txBody>
      </p:sp>
      <p:sp>
        <p:nvSpPr>
          <p:cNvPr id="26" name="Espace réservé du texte 11">
            <a:extLst>
              <a:ext uri="{FF2B5EF4-FFF2-40B4-BE49-F238E27FC236}">
                <a16:creationId xmlns:a16="http://schemas.microsoft.com/office/drawing/2014/main" id="{A4157F35-CEE9-76E0-6696-8D35D8365A49}"/>
              </a:ext>
            </a:extLst>
          </p:cNvPr>
          <p:cNvSpPr>
            <a:spLocks noGrp="1"/>
          </p:cNvSpPr>
          <p:nvPr>
            <p:ph type="body" sz="quarter" idx="13" hasCustomPrompt="1"/>
          </p:nvPr>
        </p:nvSpPr>
        <p:spPr>
          <a:xfrm>
            <a:off x="628650" y="20118"/>
            <a:ext cx="4313332" cy="261610"/>
          </a:xfrm>
        </p:spPr>
        <p:txBody>
          <a:bodyPr/>
          <a:lstStyle>
            <a:lvl1pPr algn="l">
              <a:buNone/>
              <a:defRPr sz="1400">
                <a:solidFill>
                  <a:schemeClr val="bg1"/>
                </a:solidFill>
                <a:latin typeface="Michelin Black" panose="02000000000000000000" pitchFamily="2" charset="0"/>
              </a:defRPr>
            </a:lvl1pPr>
          </a:lstStyle>
          <a:p>
            <a:pPr lvl="0"/>
            <a:r>
              <a:rPr lang="fr-FR" dirty="0"/>
              <a:t>HEADER</a:t>
            </a:r>
          </a:p>
        </p:txBody>
      </p:sp>
      <p:sp>
        <p:nvSpPr>
          <p:cNvPr id="27" name="Espace réservé du texte 11">
            <a:extLst>
              <a:ext uri="{FF2B5EF4-FFF2-40B4-BE49-F238E27FC236}">
                <a16:creationId xmlns:a16="http://schemas.microsoft.com/office/drawing/2014/main" id="{17E5BCA8-C4A7-9CC6-D1EA-4CFFF0A019B1}"/>
              </a:ext>
            </a:extLst>
          </p:cNvPr>
          <p:cNvSpPr>
            <a:spLocks noGrp="1"/>
          </p:cNvSpPr>
          <p:nvPr>
            <p:ph type="body" sz="quarter" idx="14" hasCustomPrompt="1"/>
          </p:nvPr>
        </p:nvSpPr>
        <p:spPr>
          <a:xfrm>
            <a:off x="628650" y="195421"/>
            <a:ext cx="4313332" cy="261610"/>
          </a:xfrm>
        </p:spPr>
        <p:txBody>
          <a:bodyPr/>
          <a:lstStyle>
            <a:lvl1pPr algn="l">
              <a:buNone/>
              <a:defRPr sz="1100">
                <a:solidFill>
                  <a:schemeClr val="bg1"/>
                </a:solidFill>
                <a:latin typeface="Michelin Light" panose="02000000000000000000" pitchFamily="2" charset="0"/>
              </a:defRPr>
            </a:lvl1pPr>
          </a:lstStyle>
          <a:p>
            <a:pPr lvl="0"/>
            <a:r>
              <a:rPr lang="fr-FR" dirty="0"/>
              <a:t>HEADER</a:t>
            </a:r>
          </a:p>
        </p:txBody>
      </p:sp>
      <p:sp>
        <p:nvSpPr>
          <p:cNvPr id="20" name="Espace réservé du pied de page 23">
            <a:extLst>
              <a:ext uri="{FF2B5EF4-FFF2-40B4-BE49-F238E27FC236}">
                <a16:creationId xmlns:a16="http://schemas.microsoft.com/office/drawing/2014/main" id="{551AFA07-173D-6D54-2FD6-ABF1B68BD0EB}"/>
              </a:ext>
            </a:extLst>
          </p:cNvPr>
          <p:cNvSpPr txBox="1">
            <a:spLocks/>
          </p:cNvSpPr>
          <p:nvPr userDrawn="1"/>
        </p:nvSpPr>
        <p:spPr>
          <a:xfrm>
            <a:off x="2935845" y="4761116"/>
            <a:ext cx="3086100" cy="274637"/>
          </a:xfrm>
          <a:prstGeom prst="rect">
            <a:avLst/>
          </a:prstGeom>
        </p:spPr>
        <p:txBody>
          <a:bodyPr vert="horz" lIns="91440" tIns="45720" rIns="91440" bIns="45720" rtlCol="0" anchor="ctr"/>
          <a:lstStyle>
            <a:defPPr>
              <a:defRPr lang="fr-FR"/>
            </a:defPPr>
            <a:lvl1pPr marL="0" algn="ct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fr-FR" dirty="0"/>
              <a:t>DEHONDT Maxime – Michelin PRIVATE</a:t>
            </a:r>
          </a:p>
        </p:txBody>
      </p:sp>
    </p:spTree>
    <p:extLst>
      <p:ext uri="{BB962C8B-B14F-4D97-AF65-F5344CB8AC3E}">
        <p14:creationId xmlns:p14="http://schemas.microsoft.com/office/powerpoint/2010/main" val="339962859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Disposition personnalisée">
    <p:spTree>
      <p:nvGrpSpPr>
        <p:cNvPr id="1" name=""/>
        <p:cNvGrpSpPr/>
        <p:nvPr/>
      </p:nvGrpSpPr>
      <p:grpSpPr>
        <a:xfrm>
          <a:off x="0" y="0"/>
          <a:ext cx="0" cy="0"/>
          <a:chOff x="0" y="0"/>
          <a:chExt cx="0" cy="0"/>
        </a:xfrm>
      </p:grpSpPr>
      <p:pic>
        <p:nvPicPr>
          <p:cNvPr id="6" name="Rectangle 1" descr="preencoded.png">
            <a:extLst>
              <a:ext uri="{FF2B5EF4-FFF2-40B4-BE49-F238E27FC236}">
                <a16:creationId xmlns:a16="http://schemas.microsoft.com/office/drawing/2014/main" id="{6DA31E29-650F-B8D2-13F9-9FC0ED7EC4DE}"/>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0"/>
            <a:ext cx="9144000" cy="5143500"/>
          </a:xfrm>
          <a:prstGeom prst="rect">
            <a:avLst/>
          </a:prstGeom>
        </p:spPr>
      </p:pic>
      <p:pic>
        <p:nvPicPr>
          <p:cNvPr id="7" name="FOOTER blanc" descr="preencoded.png">
            <a:extLst>
              <a:ext uri="{FF2B5EF4-FFF2-40B4-BE49-F238E27FC236}">
                <a16:creationId xmlns:a16="http://schemas.microsoft.com/office/drawing/2014/main" id="{2CC84203-0BC3-C9BA-FD03-B8E306F5AED3}"/>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0" y="4529137"/>
            <a:ext cx="9144000" cy="614363"/>
          </a:xfrm>
          <a:prstGeom prst="rect">
            <a:avLst/>
          </a:prstGeom>
        </p:spPr>
      </p:pic>
      <p:sp>
        <p:nvSpPr>
          <p:cNvPr id="9" name="Espace réservé du texte 11">
            <a:extLst>
              <a:ext uri="{FF2B5EF4-FFF2-40B4-BE49-F238E27FC236}">
                <a16:creationId xmlns:a16="http://schemas.microsoft.com/office/drawing/2014/main" id="{B9E37F7E-037A-754F-C52C-B9EF6D1FD136}"/>
              </a:ext>
            </a:extLst>
          </p:cNvPr>
          <p:cNvSpPr>
            <a:spLocks noGrp="1"/>
          </p:cNvSpPr>
          <p:nvPr>
            <p:ph type="body" sz="quarter" idx="10" hasCustomPrompt="1"/>
          </p:nvPr>
        </p:nvSpPr>
        <p:spPr>
          <a:xfrm>
            <a:off x="285750" y="2297510"/>
            <a:ext cx="8572500" cy="548481"/>
          </a:xfrm>
        </p:spPr>
        <p:txBody>
          <a:bodyPr/>
          <a:lstStyle>
            <a:lvl1pPr algn="ctr">
              <a:buNone/>
              <a:defRPr sz="3200">
                <a:solidFill>
                  <a:schemeClr val="bg1"/>
                </a:solidFill>
                <a:latin typeface="Michelin Black" panose="02000000000000000000" pitchFamily="2" charset="0"/>
              </a:defRPr>
            </a:lvl1pPr>
          </a:lstStyle>
          <a:p>
            <a:pPr lvl="0"/>
            <a:r>
              <a:rPr lang="fr-FR" dirty="0"/>
              <a:t>HEADER</a:t>
            </a:r>
          </a:p>
        </p:txBody>
      </p:sp>
    </p:spTree>
    <p:extLst>
      <p:ext uri="{BB962C8B-B14F-4D97-AF65-F5344CB8AC3E}">
        <p14:creationId xmlns:p14="http://schemas.microsoft.com/office/powerpoint/2010/main" val="27811481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Disposition personnalisée">
    <p:spTree>
      <p:nvGrpSpPr>
        <p:cNvPr id="1" name=""/>
        <p:cNvGrpSpPr/>
        <p:nvPr/>
      </p:nvGrpSpPr>
      <p:grpSpPr>
        <a:xfrm>
          <a:off x="0" y="0"/>
          <a:ext cx="0" cy="0"/>
          <a:chOff x="0" y="0"/>
          <a:chExt cx="0" cy="0"/>
        </a:xfrm>
      </p:grpSpPr>
      <p:pic>
        <p:nvPicPr>
          <p:cNvPr id="7" name="Image 6">
            <a:extLst>
              <a:ext uri="{FF2B5EF4-FFF2-40B4-BE49-F238E27FC236}">
                <a16:creationId xmlns:a16="http://schemas.microsoft.com/office/drawing/2014/main" id="{DD18EACF-6B13-21CB-CB4F-29C853130F11}"/>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b="56148"/>
          <a:stretch>
            <a:fillRect/>
          </a:stretch>
        </p:blipFill>
        <p:spPr>
          <a:xfrm>
            <a:off x="86921" y="1135380"/>
            <a:ext cx="5246766" cy="4008120"/>
          </a:xfrm>
          <a:prstGeom prst="rect">
            <a:avLst/>
          </a:prstGeom>
        </p:spPr>
      </p:pic>
      <p:sp>
        <p:nvSpPr>
          <p:cNvPr id="8" name="ZoneTexte 7">
            <a:extLst>
              <a:ext uri="{FF2B5EF4-FFF2-40B4-BE49-F238E27FC236}">
                <a16:creationId xmlns:a16="http://schemas.microsoft.com/office/drawing/2014/main" id="{F78E6FBD-B0CA-2781-9F17-A2C65FBAAF67}"/>
              </a:ext>
            </a:extLst>
          </p:cNvPr>
          <p:cNvSpPr txBox="1"/>
          <p:nvPr userDrawn="1"/>
        </p:nvSpPr>
        <p:spPr>
          <a:xfrm>
            <a:off x="5109210" y="2279362"/>
            <a:ext cx="3242310" cy="584775"/>
          </a:xfrm>
          <a:prstGeom prst="rect">
            <a:avLst/>
          </a:prstGeom>
          <a:noFill/>
        </p:spPr>
        <p:txBody>
          <a:bodyPr wrap="square" rtlCol="0">
            <a:spAutoFit/>
          </a:bodyPr>
          <a:lstStyle/>
          <a:p>
            <a:pPr algn="ctr"/>
            <a:r>
              <a:rPr lang="fr-FR" sz="3200" dirty="0">
                <a:solidFill>
                  <a:schemeClr val="tx1"/>
                </a:solidFill>
                <a:latin typeface="Michelin Black" panose="02000000000000000000" pitchFamily="2" charset="0"/>
              </a:rPr>
              <a:t>Merci !</a:t>
            </a:r>
          </a:p>
        </p:txBody>
      </p:sp>
    </p:spTree>
    <p:extLst>
      <p:ext uri="{BB962C8B-B14F-4D97-AF65-F5344CB8AC3E}">
        <p14:creationId xmlns:p14="http://schemas.microsoft.com/office/powerpoint/2010/main" val="3908302557"/>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Espace réservé du titre 1">
            <a:extLst>
              <a:ext uri="{FF2B5EF4-FFF2-40B4-BE49-F238E27FC236}">
                <a16:creationId xmlns:a16="http://schemas.microsoft.com/office/drawing/2014/main" id="{38749081-FD02-2584-AB8F-B0B1137C50A7}"/>
              </a:ext>
            </a:extLst>
          </p:cNvPr>
          <p:cNvSpPr>
            <a:spLocks noGrp="1"/>
          </p:cNvSpPr>
          <p:nvPr>
            <p:ph type="title"/>
          </p:nvPr>
        </p:nvSpPr>
        <p:spPr>
          <a:xfrm>
            <a:off x="628650" y="274638"/>
            <a:ext cx="7886700" cy="993775"/>
          </a:xfrm>
          <a:prstGeom prst="rect">
            <a:avLst/>
          </a:prstGeom>
        </p:spPr>
        <p:txBody>
          <a:bodyPr vert="horz" lIns="91440" tIns="45720" rIns="91440" bIns="45720" rtlCol="0" anchor="ctr">
            <a:normAutofit/>
          </a:bodyPr>
          <a:lstStyle/>
          <a:p>
            <a:r>
              <a:rPr lang="fr-FR" dirty="0"/>
              <a:t>Modifiez le style du titre</a:t>
            </a:r>
          </a:p>
        </p:txBody>
      </p:sp>
      <p:sp>
        <p:nvSpPr>
          <p:cNvPr id="3" name="Espace réservé du texte 2">
            <a:extLst>
              <a:ext uri="{FF2B5EF4-FFF2-40B4-BE49-F238E27FC236}">
                <a16:creationId xmlns:a16="http://schemas.microsoft.com/office/drawing/2014/main" id="{82031822-BC0A-DFF9-7933-AEC104B0492A}"/>
              </a:ext>
            </a:extLst>
          </p:cNvPr>
          <p:cNvSpPr>
            <a:spLocks noGrp="1"/>
          </p:cNvSpPr>
          <p:nvPr>
            <p:ph type="body" idx="1"/>
          </p:nvPr>
        </p:nvSpPr>
        <p:spPr>
          <a:xfrm>
            <a:off x="628650" y="1370013"/>
            <a:ext cx="7886700" cy="3262312"/>
          </a:xfrm>
          <a:prstGeom prst="rect">
            <a:avLst/>
          </a:prstGeom>
        </p:spPr>
        <p:txBody>
          <a:bodyPr vert="horz" lIns="91440" tIns="45720" rIns="91440" bIns="45720" rtlCol="0">
            <a:normAutofit/>
          </a:bodyPr>
          <a:lstStyle/>
          <a:p>
            <a:pPr lvl="0"/>
            <a:r>
              <a:rPr lang="fr-FR" dirty="0"/>
              <a:t>Cliquez pour modifier les styles du texte du masque</a:t>
            </a:r>
          </a:p>
          <a:p>
            <a:pPr lvl="1"/>
            <a:r>
              <a:rPr lang="fr-FR" dirty="0"/>
              <a:t>Deuxième niveau</a:t>
            </a:r>
          </a:p>
          <a:p>
            <a:pPr lvl="2"/>
            <a:r>
              <a:rPr lang="fr-FR" dirty="0"/>
              <a:t>Troisième niveau</a:t>
            </a:r>
          </a:p>
          <a:p>
            <a:pPr lvl="3"/>
            <a:r>
              <a:rPr lang="fr-FR" dirty="0"/>
              <a:t>Quatrième niveau</a:t>
            </a:r>
          </a:p>
          <a:p>
            <a:pPr lvl="4"/>
            <a:r>
              <a:rPr lang="fr-FR" dirty="0"/>
              <a:t>Cinquième niveau</a:t>
            </a:r>
          </a:p>
        </p:txBody>
      </p:sp>
      <p:sp>
        <p:nvSpPr>
          <p:cNvPr id="4" name="Espace réservé de la date 3">
            <a:extLst>
              <a:ext uri="{FF2B5EF4-FFF2-40B4-BE49-F238E27FC236}">
                <a16:creationId xmlns:a16="http://schemas.microsoft.com/office/drawing/2014/main" id="{AB9A577F-C586-BEC3-68C0-65C159409374}"/>
              </a:ext>
            </a:extLst>
          </p:cNvPr>
          <p:cNvSpPr>
            <a:spLocks noGrp="1"/>
          </p:cNvSpPr>
          <p:nvPr>
            <p:ph type="dt" sz="half" idx="2"/>
          </p:nvPr>
        </p:nvSpPr>
        <p:spPr>
          <a:xfrm>
            <a:off x="628650" y="4767263"/>
            <a:ext cx="2057400" cy="274637"/>
          </a:xfrm>
          <a:prstGeom prst="rect">
            <a:avLst/>
          </a:prstGeom>
        </p:spPr>
        <p:txBody>
          <a:bodyPr vert="horz" lIns="91440" tIns="45720" rIns="91440" bIns="45720" rtlCol="0" anchor="ctr"/>
          <a:lstStyle>
            <a:lvl1pPr algn="l">
              <a:defRPr sz="1200">
                <a:solidFill>
                  <a:schemeClr val="tx1">
                    <a:tint val="82000"/>
                  </a:schemeClr>
                </a:solidFill>
              </a:defRPr>
            </a:lvl1pPr>
          </a:lstStyle>
          <a:p>
            <a:fld id="{2A46E70E-A915-40E8-91AD-E4955A24A355}" type="datetimeFigureOut">
              <a:rPr lang="fr-FR" smtClean="0"/>
              <a:t>12/10/2026</a:t>
            </a:fld>
            <a:endParaRPr lang="fr-FR"/>
          </a:p>
        </p:txBody>
      </p:sp>
      <p:sp>
        <p:nvSpPr>
          <p:cNvPr id="5" name="Espace réservé du pied de page 4">
            <a:extLst>
              <a:ext uri="{FF2B5EF4-FFF2-40B4-BE49-F238E27FC236}">
                <a16:creationId xmlns:a16="http://schemas.microsoft.com/office/drawing/2014/main" id="{35594090-03F0-304F-7639-8953BBD05FBE}"/>
              </a:ext>
            </a:extLst>
          </p:cNvPr>
          <p:cNvSpPr>
            <a:spLocks noGrp="1"/>
          </p:cNvSpPr>
          <p:nvPr>
            <p:ph type="ftr" sz="quarter" idx="3"/>
          </p:nvPr>
        </p:nvSpPr>
        <p:spPr>
          <a:xfrm>
            <a:off x="3028950" y="4767263"/>
            <a:ext cx="3086100" cy="274637"/>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fr-FR"/>
          </a:p>
        </p:txBody>
      </p:sp>
      <p:sp>
        <p:nvSpPr>
          <p:cNvPr id="6" name="Espace réservé du numéro de diapositive 5">
            <a:extLst>
              <a:ext uri="{FF2B5EF4-FFF2-40B4-BE49-F238E27FC236}">
                <a16:creationId xmlns:a16="http://schemas.microsoft.com/office/drawing/2014/main" id="{FFDC2E4F-B357-FEC7-AF58-6E10F069DC03}"/>
              </a:ext>
            </a:extLst>
          </p:cNvPr>
          <p:cNvSpPr>
            <a:spLocks noGrp="1"/>
          </p:cNvSpPr>
          <p:nvPr>
            <p:ph type="sldNum" sz="quarter" idx="4"/>
          </p:nvPr>
        </p:nvSpPr>
        <p:spPr>
          <a:xfrm>
            <a:off x="6457950" y="4767263"/>
            <a:ext cx="2057400" cy="274637"/>
          </a:xfrm>
          <a:prstGeom prst="rect">
            <a:avLst/>
          </a:prstGeom>
        </p:spPr>
        <p:txBody>
          <a:bodyPr vert="horz" lIns="91440" tIns="45720" rIns="91440" bIns="45720" rtlCol="0" anchor="ctr"/>
          <a:lstStyle>
            <a:lvl1pPr algn="r">
              <a:defRPr sz="1200">
                <a:solidFill>
                  <a:schemeClr val="tx1">
                    <a:tint val="82000"/>
                  </a:schemeClr>
                </a:solidFill>
              </a:defRPr>
            </a:lvl1pPr>
          </a:lstStyle>
          <a:p>
            <a:fld id="{5AAD2969-E1F0-498B-B7DA-E38387721689}" type="slidenum">
              <a:rPr lang="fr-FR" smtClean="0"/>
              <a:t>‹N°›</a:t>
            </a:fld>
            <a:endParaRPr lang="fr-FR"/>
          </a:p>
        </p:txBody>
      </p:sp>
    </p:spTree>
    <p:extLst>
      <p:ext uri="{BB962C8B-B14F-4D97-AF65-F5344CB8AC3E}">
        <p14:creationId xmlns:p14="http://schemas.microsoft.com/office/powerpoint/2010/main" val="1130628386"/>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Lst>
  <p:txStyles>
    <p:titleStyle>
      <a:lvl1pPr algn="l" defTabSz="914400" rtl="0" eaLnBrk="1" latinLnBrk="0" hangingPunct="1">
        <a:lnSpc>
          <a:spcPct val="90000"/>
        </a:lnSpc>
        <a:spcBef>
          <a:spcPct val="0"/>
        </a:spcBef>
        <a:buNone/>
        <a:defRPr sz="4400" kern="1200">
          <a:solidFill>
            <a:schemeClr val="tx1"/>
          </a:solidFill>
          <a:latin typeface="Bahnschrift SemiBold" panose="020B0502040204020203" pitchFamily="34"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Bahnschrift Light" panose="020B0502040204020203"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Bahnschrift Light" panose="020B0502040204020203"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Bahnschrift Light" panose="020B0502040204020203"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Bahnschrift Light" panose="020B0502040204020203"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Bahnschrift Light" panose="020B0502040204020203"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7.svg"/></Relationships>
</file>

<file path=ppt/slides/_rels/slide3.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Sous-titre 8"/>
          <p:cNvSpPr>
            <a:spLocks noGrp="1"/>
          </p:cNvSpPr>
          <p:nvPr>
            <p:ph type="body" sz="quarter" idx="10"/>
          </p:nvPr>
        </p:nvSpPr>
        <p:spPr/>
        <p:txBody>
          <a:bodyPr>
            <a:normAutofit fontScale="62500" lnSpcReduction="20000"/>
          </a:bodyPr>
          <a:lstStyle/>
          <a:p>
            <a:r>
              <a:rPr lang="fr-FR" dirty="0"/>
              <a:t>Simulation de signaux température pour processus de calandrage</a:t>
            </a:r>
          </a:p>
        </p:txBody>
      </p:sp>
    </p:spTree>
    <p:extLst>
      <p:ext uri="{BB962C8B-B14F-4D97-AF65-F5344CB8AC3E}">
        <p14:creationId xmlns:p14="http://schemas.microsoft.com/office/powerpoint/2010/main" val="143640715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texte 2">
            <a:extLst>
              <a:ext uri="{FF2B5EF4-FFF2-40B4-BE49-F238E27FC236}">
                <a16:creationId xmlns:a16="http://schemas.microsoft.com/office/drawing/2014/main" id="{D479B19D-22A0-59E0-1391-EA84A3566428}"/>
              </a:ext>
            </a:extLst>
          </p:cNvPr>
          <p:cNvSpPr>
            <a:spLocks noGrp="1"/>
          </p:cNvSpPr>
          <p:nvPr>
            <p:ph type="body" sz="quarter" idx="13"/>
          </p:nvPr>
        </p:nvSpPr>
        <p:spPr/>
        <p:txBody>
          <a:bodyPr>
            <a:normAutofit fontScale="92500" lnSpcReduction="10000"/>
          </a:bodyPr>
          <a:lstStyle/>
          <a:p>
            <a:r>
              <a:rPr lang="fr-FR" dirty="0"/>
              <a:t>I. Contexte</a:t>
            </a:r>
          </a:p>
        </p:txBody>
      </p:sp>
      <p:pic>
        <p:nvPicPr>
          <p:cNvPr id="6" name="Image 5">
            <a:extLst>
              <a:ext uri="{FF2B5EF4-FFF2-40B4-BE49-F238E27FC236}">
                <a16:creationId xmlns:a16="http://schemas.microsoft.com/office/drawing/2014/main" id="{70F706B0-5F9A-CA6A-CC5A-B6CE9F21B2D3}"/>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496478" y="632334"/>
            <a:ext cx="6151044" cy="3356862"/>
          </a:xfrm>
          <a:prstGeom prst="rect">
            <a:avLst/>
          </a:prstGeom>
        </p:spPr>
      </p:pic>
      <p:pic>
        <p:nvPicPr>
          <p:cNvPr id="5" name="Graphique 4" descr="Avertissement contour">
            <a:extLst>
              <a:ext uri="{FF2B5EF4-FFF2-40B4-BE49-F238E27FC236}">
                <a16:creationId xmlns:a16="http://schemas.microsoft.com/office/drawing/2014/main" id="{FDC2B9DD-8D64-4C62-631E-8E943BA246A0}"/>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28650" y="3864835"/>
            <a:ext cx="558000" cy="558000"/>
          </a:xfrm>
          <a:prstGeom prst="rect">
            <a:avLst/>
          </a:prstGeom>
        </p:spPr>
      </p:pic>
      <p:sp>
        <p:nvSpPr>
          <p:cNvPr id="7" name="ZoneTexte 6">
            <a:extLst>
              <a:ext uri="{FF2B5EF4-FFF2-40B4-BE49-F238E27FC236}">
                <a16:creationId xmlns:a16="http://schemas.microsoft.com/office/drawing/2014/main" id="{A7EE10E1-DD72-C68A-1ED9-CD64E7529287}"/>
              </a:ext>
            </a:extLst>
          </p:cNvPr>
          <p:cNvSpPr txBox="1"/>
          <p:nvPr/>
        </p:nvSpPr>
        <p:spPr>
          <a:xfrm>
            <a:off x="1238400" y="3864835"/>
            <a:ext cx="1684800" cy="584775"/>
          </a:xfrm>
          <a:prstGeom prst="rect">
            <a:avLst/>
          </a:prstGeom>
          <a:noFill/>
        </p:spPr>
        <p:txBody>
          <a:bodyPr wrap="square" rtlCol="0">
            <a:spAutoFit/>
          </a:bodyPr>
          <a:lstStyle/>
          <a:p>
            <a:r>
              <a:rPr lang="fr-FR" sz="1600" dirty="0">
                <a:latin typeface="Bahnschrift Light" panose="020B0502040204020203" pitchFamily="34" charset="0"/>
              </a:rPr>
              <a:t>Température du mélange</a:t>
            </a:r>
          </a:p>
        </p:txBody>
      </p:sp>
    </p:spTree>
    <p:extLst>
      <p:ext uri="{BB962C8B-B14F-4D97-AF65-F5344CB8AC3E}">
        <p14:creationId xmlns:p14="http://schemas.microsoft.com/office/powerpoint/2010/main" val="25482625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par>
                                <p:cTn id="8" presetID="10" presetClass="entr" presetSubtype="0" fill="hold"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141508-4331-A930-9C7D-DDA3D5BBCA74}"/>
            </a:ext>
          </a:extLst>
        </p:cNvPr>
        <p:cNvGrpSpPr/>
        <p:nvPr/>
      </p:nvGrpSpPr>
      <p:grpSpPr>
        <a:xfrm>
          <a:off x="0" y="0"/>
          <a:ext cx="0" cy="0"/>
          <a:chOff x="0" y="0"/>
          <a:chExt cx="0" cy="0"/>
        </a:xfrm>
      </p:grpSpPr>
      <p:sp>
        <p:nvSpPr>
          <p:cNvPr id="3" name="Espace réservé du texte 2">
            <a:extLst>
              <a:ext uri="{FF2B5EF4-FFF2-40B4-BE49-F238E27FC236}">
                <a16:creationId xmlns:a16="http://schemas.microsoft.com/office/drawing/2014/main" id="{593C5EE3-FE15-ACFA-D767-669EDA9FC139}"/>
              </a:ext>
            </a:extLst>
          </p:cNvPr>
          <p:cNvSpPr>
            <a:spLocks noGrp="1"/>
          </p:cNvSpPr>
          <p:nvPr>
            <p:ph type="body" sz="quarter" idx="13"/>
          </p:nvPr>
        </p:nvSpPr>
        <p:spPr/>
        <p:txBody>
          <a:bodyPr>
            <a:normAutofit fontScale="92500" lnSpcReduction="10000"/>
          </a:bodyPr>
          <a:lstStyle/>
          <a:p>
            <a:r>
              <a:rPr lang="fr-FR" dirty="0"/>
              <a:t>I. Contexte</a:t>
            </a:r>
          </a:p>
        </p:txBody>
      </p:sp>
      <p:pic>
        <p:nvPicPr>
          <p:cNvPr id="5" name="Graphique 4" descr="Engrenage avec un remplissage uni">
            <a:extLst>
              <a:ext uri="{FF2B5EF4-FFF2-40B4-BE49-F238E27FC236}">
                <a16:creationId xmlns:a16="http://schemas.microsoft.com/office/drawing/2014/main" id="{70E59255-1B00-F416-C40C-B8D25BA6754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972506" y="1227787"/>
            <a:ext cx="919111" cy="919111"/>
          </a:xfrm>
          <a:prstGeom prst="rect">
            <a:avLst/>
          </a:prstGeom>
        </p:spPr>
      </p:pic>
      <p:sp>
        <p:nvSpPr>
          <p:cNvPr id="8" name="Rectangle : coins arrondis 7">
            <a:extLst>
              <a:ext uri="{FF2B5EF4-FFF2-40B4-BE49-F238E27FC236}">
                <a16:creationId xmlns:a16="http://schemas.microsoft.com/office/drawing/2014/main" id="{F9309220-4473-7E0A-0AA0-E37A334B3FFE}"/>
              </a:ext>
            </a:extLst>
          </p:cNvPr>
          <p:cNvSpPr/>
          <p:nvPr/>
        </p:nvSpPr>
        <p:spPr>
          <a:xfrm>
            <a:off x="1834374" y="1665204"/>
            <a:ext cx="1597688" cy="803868"/>
          </a:xfrm>
          <a:prstGeom prst="roundRect">
            <a:avLst/>
          </a:prstGeom>
          <a:solidFill>
            <a:schemeClr val="tx2">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dirty="0">
                <a:latin typeface="Bahnschrift Light" panose="020B0502040204020203" pitchFamily="34" charset="0"/>
              </a:rPr>
              <a:t>Simulateur numérique</a:t>
            </a:r>
          </a:p>
        </p:txBody>
      </p:sp>
      <p:sp>
        <p:nvSpPr>
          <p:cNvPr id="10" name="Flèche : bas 9">
            <a:extLst>
              <a:ext uri="{FF2B5EF4-FFF2-40B4-BE49-F238E27FC236}">
                <a16:creationId xmlns:a16="http://schemas.microsoft.com/office/drawing/2014/main" id="{B8A8A691-084F-6033-7753-4325C132F432}"/>
              </a:ext>
            </a:extLst>
          </p:cNvPr>
          <p:cNvSpPr/>
          <p:nvPr/>
        </p:nvSpPr>
        <p:spPr>
          <a:xfrm>
            <a:off x="2465064" y="1052150"/>
            <a:ext cx="321547" cy="613054"/>
          </a:xfrm>
          <a:prstGeom prst="downArrow">
            <a:avLst/>
          </a:prstGeom>
          <a:solidFill>
            <a:schemeClr val="tx2">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2" name="Flèche : bas 11">
            <a:extLst>
              <a:ext uri="{FF2B5EF4-FFF2-40B4-BE49-F238E27FC236}">
                <a16:creationId xmlns:a16="http://schemas.microsoft.com/office/drawing/2014/main" id="{D87453F3-CD44-FC99-1237-D16C4F7A36A4}"/>
              </a:ext>
            </a:extLst>
          </p:cNvPr>
          <p:cNvSpPr/>
          <p:nvPr/>
        </p:nvSpPr>
        <p:spPr>
          <a:xfrm>
            <a:off x="2472444" y="2469072"/>
            <a:ext cx="321547" cy="613054"/>
          </a:xfrm>
          <a:prstGeom prst="downArrow">
            <a:avLst/>
          </a:prstGeom>
          <a:solidFill>
            <a:schemeClr val="tx2">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3" name="ZoneTexte 12">
            <a:extLst>
              <a:ext uri="{FF2B5EF4-FFF2-40B4-BE49-F238E27FC236}">
                <a16:creationId xmlns:a16="http://schemas.microsoft.com/office/drawing/2014/main" id="{6F5027CF-05F3-53AF-A488-A0E1D13F5E81}"/>
              </a:ext>
            </a:extLst>
          </p:cNvPr>
          <p:cNvSpPr txBox="1"/>
          <p:nvPr/>
        </p:nvSpPr>
        <p:spPr>
          <a:xfrm>
            <a:off x="628022" y="3704672"/>
            <a:ext cx="4878475" cy="923330"/>
          </a:xfrm>
          <a:prstGeom prst="rect">
            <a:avLst/>
          </a:prstGeom>
          <a:noFill/>
        </p:spPr>
        <p:txBody>
          <a:bodyPr wrap="square" rtlCol="0">
            <a:spAutoFit/>
          </a:bodyPr>
          <a:lstStyle/>
          <a:p>
            <a:r>
              <a:rPr lang="fr-FR" dirty="0">
                <a:latin typeface="Bahnschrift Light" panose="020B0502040204020203" pitchFamily="34" charset="0"/>
              </a:rPr>
              <a:t>Objectif initial :</a:t>
            </a:r>
          </a:p>
          <a:p>
            <a:r>
              <a:rPr lang="fr-FR" dirty="0">
                <a:latin typeface="Bahnschrift Light" panose="020B0502040204020203" pitchFamily="34" charset="0"/>
              </a:rPr>
              <a:t>Analyse du signal de température en fonction de la configuration des procédés</a:t>
            </a:r>
          </a:p>
        </p:txBody>
      </p:sp>
      <p:sp>
        <p:nvSpPr>
          <p:cNvPr id="15" name="ZoneTexte 14">
            <a:extLst>
              <a:ext uri="{FF2B5EF4-FFF2-40B4-BE49-F238E27FC236}">
                <a16:creationId xmlns:a16="http://schemas.microsoft.com/office/drawing/2014/main" id="{C4EFED20-5043-7EF9-60CF-FAD333E8E69B}"/>
              </a:ext>
            </a:extLst>
          </p:cNvPr>
          <p:cNvSpPr txBox="1"/>
          <p:nvPr/>
        </p:nvSpPr>
        <p:spPr>
          <a:xfrm>
            <a:off x="1870954" y="688520"/>
            <a:ext cx="1509765" cy="307777"/>
          </a:xfrm>
          <a:prstGeom prst="rect">
            <a:avLst/>
          </a:prstGeom>
          <a:noFill/>
        </p:spPr>
        <p:txBody>
          <a:bodyPr wrap="square" rtlCol="0">
            <a:spAutoFit/>
          </a:bodyPr>
          <a:lstStyle/>
          <a:p>
            <a:pPr algn="ctr"/>
            <a:r>
              <a:rPr lang="fr-FR" sz="1400" i="1" dirty="0">
                <a:latin typeface="Bahnschrift Light" panose="020B0502040204020203" pitchFamily="34" charset="0"/>
              </a:rPr>
              <a:t>configuration</a:t>
            </a:r>
          </a:p>
        </p:txBody>
      </p:sp>
      <p:sp>
        <p:nvSpPr>
          <p:cNvPr id="19" name="ZoneTexte 18">
            <a:extLst>
              <a:ext uri="{FF2B5EF4-FFF2-40B4-BE49-F238E27FC236}">
                <a16:creationId xmlns:a16="http://schemas.microsoft.com/office/drawing/2014/main" id="{364D59D6-97F1-6F29-2C55-C34FA48FD00C}"/>
              </a:ext>
            </a:extLst>
          </p:cNvPr>
          <p:cNvSpPr txBox="1"/>
          <p:nvPr/>
        </p:nvSpPr>
        <p:spPr>
          <a:xfrm>
            <a:off x="1847641" y="3119051"/>
            <a:ext cx="1509765" cy="523220"/>
          </a:xfrm>
          <a:prstGeom prst="rect">
            <a:avLst/>
          </a:prstGeom>
          <a:noFill/>
        </p:spPr>
        <p:txBody>
          <a:bodyPr wrap="square" rtlCol="0">
            <a:spAutoFit/>
          </a:bodyPr>
          <a:lstStyle/>
          <a:p>
            <a:pPr algn="ctr"/>
            <a:r>
              <a:rPr lang="fr-FR" sz="1400" i="1" dirty="0">
                <a:latin typeface="Bahnschrift Light" panose="020B0502040204020203" pitchFamily="34" charset="0"/>
              </a:rPr>
              <a:t>signal température</a:t>
            </a:r>
          </a:p>
        </p:txBody>
      </p:sp>
      <p:sp>
        <p:nvSpPr>
          <p:cNvPr id="20" name="ZoneTexte 19">
            <a:extLst>
              <a:ext uri="{FF2B5EF4-FFF2-40B4-BE49-F238E27FC236}">
                <a16:creationId xmlns:a16="http://schemas.microsoft.com/office/drawing/2014/main" id="{F20D8A0A-1670-6EFE-28C0-8CA797878953}"/>
              </a:ext>
            </a:extLst>
          </p:cNvPr>
          <p:cNvSpPr txBox="1"/>
          <p:nvPr/>
        </p:nvSpPr>
        <p:spPr>
          <a:xfrm>
            <a:off x="3357406" y="3139074"/>
            <a:ext cx="1678074" cy="461665"/>
          </a:xfrm>
          <a:prstGeom prst="rect">
            <a:avLst/>
          </a:prstGeom>
          <a:noFill/>
        </p:spPr>
        <p:txBody>
          <a:bodyPr wrap="square" rtlCol="0">
            <a:spAutoFit/>
          </a:bodyPr>
          <a:lstStyle/>
          <a:p>
            <a:r>
              <a:rPr lang="fr-FR" sz="1200" dirty="0">
                <a:solidFill>
                  <a:srgbClr val="C00000"/>
                </a:solidFill>
                <a:latin typeface="Bahnschrift Light" panose="020B0502040204020203" pitchFamily="34" charset="0"/>
              </a:rPr>
              <a:t>Coûteux : ~5min / simulation</a:t>
            </a:r>
          </a:p>
        </p:txBody>
      </p:sp>
      <p:sp>
        <p:nvSpPr>
          <p:cNvPr id="21" name="Flèche : droite 20">
            <a:extLst>
              <a:ext uri="{FF2B5EF4-FFF2-40B4-BE49-F238E27FC236}">
                <a16:creationId xmlns:a16="http://schemas.microsoft.com/office/drawing/2014/main" id="{296695B1-3F24-B594-59FD-1DE5299F70EF}"/>
              </a:ext>
            </a:extLst>
          </p:cNvPr>
          <p:cNvSpPr/>
          <p:nvPr/>
        </p:nvSpPr>
        <p:spPr>
          <a:xfrm>
            <a:off x="4290646" y="1868993"/>
            <a:ext cx="919111" cy="381838"/>
          </a:xfrm>
          <a:prstGeom prst="rightArrow">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fr-FR"/>
          </a:p>
        </p:txBody>
      </p:sp>
      <p:pic>
        <p:nvPicPr>
          <p:cNvPr id="23" name="Graphique 22" descr="Engrenage avec un remplissage uni">
            <a:extLst>
              <a:ext uri="{FF2B5EF4-FFF2-40B4-BE49-F238E27FC236}">
                <a16:creationId xmlns:a16="http://schemas.microsoft.com/office/drawing/2014/main" id="{80BA2FF1-654F-3EA0-B5BF-2250C63D4D2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954873" y="1227787"/>
            <a:ext cx="919111" cy="919111"/>
          </a:xfrm>
          <a:prstGeom prst="rect">
            <a:avLst/>
          </a:prstGeom>
        </p:spPr>
      </p:pic>
      <p:sp>
        <p:nvSpPr>
          <p:cNvPr id="25" name="Rectangle : coins arrondis 24">
            <a:extLst>
              <a:ext uri="{FF2B5EF4-FFF2-40B4-BE49-F238E27FC236}">
                <a16:creationId xmlns:a16="http://schemas.microsoft.com/office/drawing/2014/main" id="{A93883C9-D74B-645B-2BEF-5C0468470250}"/>
              </a:ext>
            </a:extLst>
          </p:cNvPr>
          <p:cNvSpPr/>
          <p:nvPr/>
        </p:nvSpPr>
        <p:spPr>
          <a:xfrm>
            <a:off x="5816741" y="1665204"/>
            <a:ext cx="1597688" cy="803868"/>
          </a:xfrm>
          <a:prstGeom prst="roundRect">
            <a:avLst/>
          </a:prstGeom>
          <a:solidFill>
            <a:schemeClr val="accent6">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dirty="0">
                <a:solidFill>
                  <a:schemeClr val="tx1"/>
                </a:solidFill>
                <a:latin typeface="Bahnschrift Light" panose="020B0502040204020203" pitchFamily="34" charset="0"/>
              </a:rPr>
              <a:t>Modèle ML </a:t>
            </a:r>
            <a:r>
              <a:rPr lang="fr-FR" dirty="0" err="1">
                <a:solidFill>
                  <a:schemeClr val="tx1"/>
                </a:solidFill>
                <a:latin typeface="Bahnschrift Light" panose="020B0502040204020203" pitchFamily="34" charset="0"/>
              </a:rPr>
              <a:t>surrogate</a:t>
            </a:r>
            <a:endParaRPr lang="fr-FR" dirty="0">
              <a:solidFill>
                <a:schemeClr val="tx1"/>
              </a:solidFill>
              <a:latin typeface="Bahnschrift Light" panose="020B0502040204020203" pitchFamily="34" charset="0"/>
            </a:endParaRPr>
          </a:p>
        </p:txBody>
      </p:sp>
      <p:sp>
        <p:nvSpPr>
          <p:cNvPr id="27" name="Flèche : bas 26">
            <a:extLst>
              <a:ext uri="{FF2B5EF4-FFF2-40B4-BE49-F238E27FC236}">
                <a16:creationId xmlns:a16="http://schemas.microsoft.com/office/drawing/2014/main" id="{DFBA7453-01C1-2BC3-EDDE-C62885E43722}"/>
              </a:ext>
            </a:extLst>
          </p:cNvPr>
          <p:cNvSpPr/>
          <p:nvPr/>
        </p:nvSpPr>
        <p:spPr>
          <a:xfrm>
            <a:off x="6447431" y="1052150"/>
            <a:ext cx="321547" cy="613054"/>
          </a:xfrm>
          <a:prstGeom prst="downArrow">
            <a:avLst/>
          </a:prstGeom>
          <a:solidFill>
            <a:schemeClr val="accent6">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solidFill>
                <a:schemeClr val="tx1"/>
              </a:solidFill>
            </a:endParaRPr>
          </a:p>
        </p:txBody>
      </p:sp>
      <p:sp>
        <p:nvSpPr>
          <p:cNvPr id="29" name="Flèche : bas 28">
            <a:extLst>
              <a:ext uri="{FF2B5EF4-FFF2-40B4-BE49-F238E27FC236}">
                <a16:creationId xmlns:a16="http://schemas.microsoft.com/office/drawing/2014/main" id="{14E3C7AF-15D7-CE96-E596-4C3562CA61D7}"/>
              </a:ext>
            </a:extLst>
          </p:cNvPr>
          <p:cNvSpPr/>
          <p:nvPr/>
        </p:nvSpPr>
        <p:spPr>
          <a:xfrm>
            <a:off x="6454811" y="2469072"/>
            <a:ext cx="321547" cy="613054"/>
          </a:xfrm>
          <a:prstGeom prst="downArrow">
            <a:avLst/>
          </a:prstGeom>
          <a:solidFill>
            <a:schemeClr val="accent6">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solidFill>
                <a:schemeClr val="tx1"/>
              </a:solidFill>
            </a:endParaRPr>
          </a:p>
        </p:txBody>
      </p:sp>
      <p:sp>
        <p:nvSpPr>
          <p:cNvPr id="31" name="ZoneTexte 30">
            <a:extLst>
              <a:ext uri="{FF2B5EF4-FFF2-40B4-BE49-F238E27FC236}">
                <a16:creationId xmlns:a16="http://schemas.microsoft.com/office/drawing/2014/main" id="{1B905D7C-54C6-E844-2361-18C95968D669}"/>
              </a:ext>
            </a:extLst>
          </p:cNvPr>
          <p:cNvSpPr txBox="1"/>
          <p:nvPr/>
        </p:nvSpPr>
        <p:spPr>
          <a:xfrm>
            <a:off x="5853321" y="688520"/>
            <a:ext cx="1509765" cy="307777"/>
          </a:xfrm>
          <a:prstGeom prst="rect">
            <a:avLst/>
          </a:prstGeom>
          <a:noFill/>
        </p:spPr>
        <p:txBody>
          <a:bodyPr wrap="square" rtlCol="0">
            <a:spAutoFit/>
          </a:bodyPr>
          <a:lstStyle/>
          <a:p>
            <a:pPr algn="ctr"/>
            <a:r>
              <a:rPr lang="fr-FR" sz="1400" i="1" dirty="0">
                <a:latin typeface="Bahnschrift Light" panose="020B0502040204020203" pitchFamily="34" charset="0"/>
              </a:rPr>
              <a:t>configuration</a:t>
            </a:r>
          </a:p>
        </p:txBody>
      </p:sp>
      <p:sp>
        <p:nvSpPr>
          <p:cNvPr id="33" name="ZoneTexte 32">
            <a:extLst>
              <a:ext uri="{FF2B5EF4-FFF2-40B4-BE49-F238E27FC236}">
                <a16:creationId xmlns:a16="http://schemas.microsoft.com/office/drawing/2014/main" id="{E4430617-B968-1881-8832-269604B8A544}"/>
              </a:ext>
            </a:extLst>
          </p:cNvPr>
          <p:cNvSpPr txBox="1"/>
          <p:nvPr/>
        </p:nvSpPr>
        <p:spPr>
          <a:xfrm>
            <a:off x="5830008" y="3119051"/>
            <a:ext cx="1509765" cy="523220"/>
          </a:xfrm>
          <a:prstGeom prst="rect">
            <a:avLst/>
          </a:prstGeom>
          <a:noFill/>
        </p:spPr>
        <p:txBody>
          <a:bodyPr wrap="square" rtlCol="0">
            <a:spAutoFit/>
          </a:bodyPr>
          <a:lstStyle/>
          <a:p>
            <a:pPr algn="ctr"/>
            <a:r>
              <a:rPr lang="fr-FR" sz="1400" i="1" dirty="0">
                <a:latin typeface="Bahnschrift Light" panose="020B0502040204020203" pitchFamily="34" charset="0"/>
              </a:rPr>
              <a:t>signal température</a:t>
            </a:r>
          </a:p>
        </p:txBody>
      </p:sp>
      <p:sp>
        <p:nvSpPr>
          <p:cNvPr id="34" name="ZoneTexte 33">
            <a:extLst>
              <a:ext uri="{FF2B5EF4-FFF2-40B4-BE49-F238E27FC236}">
                <a16:creationId xmlns:a16="http://schemas.microsoft.com/office/drawing/2014/main" id="{784A6EF0-391E-7274-EA87-35AA07D4AB93}"/>
              </a:ext>
            </a:extLst>
          </p:cNvPr>
          <p:cNvSpPr txBox="1"/>
          <p:nvPr/>
        </p:nvSpPr>
        <p:spPr>
          <a:xfrm>
            <a:off x="3805658" y="1387652"/>
            <a:ext cx="1970890" cy="523220"/>
          </a:xfrm>
          <a:prstGeom prst="rect">
            <a:avLst/>
          </a:prstGeom>
          <a:noFill/>
        </p:spPr>
        <p:txBody>
          <a:bodyPr wrap="square" rtlCol="0">
            <a:spAutoFit/>
          </a:bodyPr>
          <a:lstStyle/>
          <a:p>
            <a:pPr algn="ctr"/>
            <a:r>
              <a:rPr lang="fr-FR" sz="1400" i="1" dirty="0">
                <a:latin typeface="Bahnschrift Light" panose="020B0502040204020203" pitchFamily="34" charset="0"/>
              </a:rPr>
              <a:t>Jeu de données de simulations</a:t>
            </a:r>
          </a:p>
        </p:txBody>
      </p:sp>
      <p:sp>
        <p:nvSpPr>
          <p:cNvPr id="36" name="ZoneTexte 35">
            <a:extLst>
              <a:ext uri="{FF2B5EF4-FFF2-40B4-BE49-F238E27FC236}">
                <a16:creationId xmlns:a16="http://schemas.microsoft.com/office/drawing/2014/main" id="{74DCD379-BD58-1E54-59A6-9A81B36A2B3B}"/>
              </a:ext>
            </a:extLst>
          </p:cNvPr>
          <p:cNvSpPr txBox="1"/>
          <p:nvPr/>
        </p:nvSpPr>
        <p:spPr>
          <a:xfrm>
            <a:off x="7414428" y="3303711"/>
            <a:ext cx="1095270" cy="276999"/>
          </a:xfrm>
          <a:prstGeom prst="rect">
            <a:avLst/>
          </a:prstGeom>
          <a:noFill/>
        </p:spPr>
        <p:txBody>
          <a:bodyPr wrap="square" rtlCol="0">
            <a:spAutoFit/>
          </a:bodyPr>
          <a:lstStyle/>
          <a:p>
            <a:r>
              <a:rPr lang="fr-FR" sz="1200" dirty="0">
                <a:solidFill>
                  <a:schemeClr val="accent6">
                    <a:lumMod val="75000"/>
                  </a:schemeClr>
                </a:solidFill>
                <a:latin typeface="Bahnschrift Light" panose="020B0502040204020203" pitchFamily="34" charset="0"/>
              </a:rPr>
              <a:t>+ Rapide</a:t>
            </a:r>
          </a:p>
        </p:txBody>
      </p:sp>
    </p:spTree>
    <p:extLst>
      <p:ext uri="{BB962C8B-B14F-4D97-AF65-F5344CB8AC3E}">
        <p14:creationId xmlns:p14="http://schemas.microsoft.com/office/powerpoint/2010/main" val="22997475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0" presetClass="entr" presetSubtype="0" fill="hold" nodeType="clickEffect">
                                  <p:stCondLst>
                                    <p:cond delay="0"/>
                                  </p:stCondLst>
                                  <p:childTnLst>
                                    <p:set>
                                      <p:cBhvr>
                                        <p:cTn id="10" dur="1" fill="hold">
                                          <p:stCondLst>
                                            <p:cond delay="0"/>
                                          </p:stCondLst>
                                        </p:cTn>
                                        <p:tgtEl>
                                          <p:spTgt spid="23"/>
                                        </p:tgtEl>
                                        <p:attrNameLst>
                                          <p:attrName>style.visibility</p:attrName>
                                        </p:attrNameLst>
                                      </p:cBhvr>
                                      <p:to>
                                        <p:strVal val="visible"/>
                                      </p:to>
                                    </p:set>
                                    <p:animEffect transition="in" filter="fade">
                                      <p:cBhvr>
                                        <p:cTn id="11" dur="500"/>
                                        <p:tgtEl>
                                          <p:spTgt spid="23"/>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25"/>
                                        </p:tgtEl>
                                        <p:attrNameLst>
                                          <p:attrName>style.visibility</p:attrName>
                                        </p:attrNameLst>
                                      </p:cBhvr>
                                      <p:to>
                                        <p:strVal val="visible"/>
                                      </p:to>
                                    </p:set>
                                    <p:animEffect transition="in" filter="fade">
                                      <p:cBhvr>
                                        <p:cTn id="14" dur="500"/>
                                        <p:tgtEl>
                                          <p:spTgt spid="25"/>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27"/>
                                        </p:tgtEl>
                                        <p:attrNameLst>
                                          <p:attrName>style.visibility</p:attrName>
                                        </p:attrNameLst>
                                      </p:cBhvr>
                                      <p:to>
                                        <p:strVal val="visible"/>
                                      </p:to>
                                    </p:set>
                                    <p:animEffect transition="in" filter="fade">
                                      <p:cBhvr>
                                        <p:cTn id="17" dur="500"/>
                                        <p:tgtEl>
                                          <p:spTgt spid="27"/>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29"/>
                                        </p:tgtEl>
                                        <p:attrNameLst>
                                          <p:attrName>style.visibility</p:attrName>
                                        </p:attrNameLst>
                                      </p:cBhvr>
                                      <p:to>
                                        <p:strVal val="visible"/>
                                      </p:to>
                                    </p:set>
                                    <p:animEffect transition="in" filter="fade">
                                      <p:cBhvr>
                                        <p:cTn id="20" dur="500"/>
                                        <p:tgtEl>
                                          <p:spTgt spid="29"/>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31"/>
                                        </p:tgtEl>
                                        <p:attrNameLst>
                                          <p:attrName>style.visibility</p:attrName>
                                        </p:attrNameLst>
                                      </p:cBhvr>
                                      <p:to>
                                        <p:strVal val="visible"/>
                                      </p:to>
                                    </p:set>
                                    <p:animEffect transition="in" filter="fade">
                                      <p:cBhvr>
                                        <p:cTn id="23" dur="500"/>
                                        <p:tgtEl>
                                          <p:spTgt spid="31"/>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33"/>
                                        </p:tgtEl>
                                        <p:attrNameLst>
                                          <p:attrName>style.visibility</p:attrName>
                                        </p:attrNameLst>
                                      </p:cBhvr>
                                      <p:to>
                                        <p:strVal val="visible"/>
                                      </p:to>
                                    </p:set>
                                    <p:animEffect transition="in" filter="fade">
                                      <p:cBhvr>
                                        <p:cTn id="26" dur="500"/>
                                        <p:tgtEl>
                                          <p:spTgt spid="33"/>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36"/>
                                        </p:tgtEl>
                                        <p:attrNameLst>
                                          <p:attrName>style.visibility</p:attrName>
                                        </p:attrNameLst>
                                      </p:cBhvr>
                                      <p:to>
                                        <p:strVal val="visible"/>
                                      </p:to>
                                    </p:set>
                                    <p:animEffect transition="in" filter="fade">
                                      <p:cBhvr>
                                        <p:cTn id="29" dur="500"/>
                                        <p:tgtEl>
                                          <p:spTgt spid="36"/>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34"/>
                                        </p:tgtEl>
                                        <p:attrNameLst>
                                          <p:attrName>style.visibility</p:attrName>
                                        </p:attrNameLst>
                                      </p:cBhvr>
                                      <p:to>
                                        <p:strVal val="visible"/>
                                      </p:to>
                                    </p:set>
                                    <p:animEffect transition="in" filter="fade">
                                      <p:cBhvr>
                                        <p:cTn id="32" dur="500"/>
                                        <p:tgtEl>
                                          <p:spTgt spid="34"/>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21"/>
                                        </p:tgtEl>
                                        <p:attrNameLst>
                                          <p:attrName>style.visibility</p:attrName>
                                        </p:attrNameLst>
                                      </p:cBhvr>
                                      <p:to>
                                        <p:strVal val="visible"/>
                                      </p:to>
                                    </p:set>
                                    <p:animEffect transition="in" filter="fade">
                                      <p:cBhvr>
                                        <p:cTn id="35"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p:bldP spid="21" grpId="0" animBg="1"/>
      <p:bldP spid="25" grpId="0" animBg="1"/>
      <p:bldP spid="27" grpId="0" animBg="1"/>
      <p:bldP spid="29" grpId="0" animBg="1"/>
      <p:bldP spid="31" grpId="0"/>
      <p:bldP spid="33" grpId="0"/>
      <p:bldP spid="34" grpId="0"/>
      <p:bldP spid="36"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4795DB-A05E-0FF2-EA44-401E60297737}"/>
            </a:ext>
          </a:extLst>
        </p:cNvPr>
        <p:cNvGrpSpPr/>
        <p:nvPr/>
      </p:nvGrpSpPr>
      <p:grpSpPr>
        <a:xfrm>
          <a:off x="0" y="0"/>
          <a:ext cx="0" cy="0"/>
          <a:chOff x="0" y="0"/>
          <a:chExt cx="0" cy="0"/>
        </a:xfrm>
      </p:grpSpPr>
      <p:sp>
        <p:nvSpPr>
          <p:cNvPr id="3" name="Espace réservé du texte 2">
            <a:extLst>
              <a:ext uri="{FF2B5EF4-FFF2-40B4-BE49-F238E27FC236}">
                <a16:creationId xmlns:a16="http://schemas.microsoft.com/office/drawing/2014/main" id="{08936153-06C5-E083-6E88-E83B7E2AE200}"/>
              </a:ext>
            </a:extLst>
          </p:cNvPr>
          <p:cNvSpPr>
            <a:spLocks noGrp="1"/>
          </p:cNvSpPr>
          <p:nvPr>
            <p:ph type="body" sz="quarter" idx="13"/>
          </p:nvPr>
        </p:nvSpPr>
        <p:spPr/>
        <p:txBody>
          <a:bodyPr>
            <a:normAutofit fontScale="92500" lnSpcReduction="10000"/>
          </a:bodyPr>
          <a:lstStyle/>
          <a:p>
            <a:r>
              <a:rPr lang="fr-FR" dirty="0"/>
              <a:t>II. Données</a:t>
            </a:r>
          </a:p>
        </p:txBody>
      </p:sp>
      <p:pic>
        <p:nvPicPr>
          <p:cNvPr id="9" name="Image 8">
            <a:extLst>
              <a:ext uri="{FF2B5EF4-FFF2-40B4-BE49-F238E27FC236}">
                <a16:creationId xmlns:a16="http://schemas.microsoft.com/office/drawing/2014/main" id="{8819D8D2-9619-608A-675A-38B615D05D65}"/>
              </a:ext>
            </a:extLst>
          </p:cNvPr>
          <p:cNvPicPr>
            <a:picLocks noChangeAspect="1"/>
          </p:cNvPicPr>
          <p:nvPr/>
        </p:nvPicPr>
        <p:blipFill>
          <a:blip r:embed="rId2"/>
          <a:stretch>
            <a:fillRect/>
          </a:stretch>
        </p:blipFill>
        <p:spPr>
          <a:xfrm>
            <a:off x="1217175" y="891750"/>
            <a:ext cx="5983181" cy="3183450"/>
          </a:xfrm>
          <a:prstGeom prst="rect">
            <a:avLst/>
          </a:prstGeom>
        </p:spPr>
      </p:pic>
      <p:sp>
        <p:nvSpPr>
          <p:cNvPr id="11" name="ZoneTexte 10">
            <a:extLst>
              <a:ext uri="{FF2B5EF4-FFF2-40B4-BE49-F238E27FC236}">
                <a16:creationId xmlns:a16="http://schemas.microsoft.com/office/drawing/2014/main" id="{E9D5E49C-356F-CABD-C98B-94D78503B4A2}"/>
              </a:ext>
            </a:extLst>
          </p:cNvPr>
          <p:cNvSpPr txBox="1"/>
          <p:nvPr/>
        </p:nvSpPr>
        <p:spPr>
          <a:xfrm>
            <a:off x="628650" y="531781"/>
            <a:ext cx="4600800" cy="369332"/>
          </a:xfrm>
          <a:prstGeom prst="rect">
            <a:avLst/>
          </a:prstGeom>
          <a:noFill/>
        </p:spPr>
        <p:txBody>
          <a:bodyPr wrap="square" rtlCol="0">
            <a:spAutoFit/>
          </a:bodyPr>
          <a:lstStyle/>
          <a:p>
            <a:r>
              <a:rPr lang="fr-FR" dirty="0">
                <a:latin typeface="Bahnschrift SemiLight" panose="020B0502040204020203" pitchFamily="34" charset="0"/>
              </a:rPr>
              <a:t>Exemples de simulations numériques</a:t>
            </a:r>
          </a:p>
        </p:txBody>
      </p:sp>
      <p:sp>
        <p:nvSpPr>
          <p:cNvPr id="16" name="ZoneTexte 15">
            <a:extLst>
              <a:ext uri="{FF2B5EF4-FFF2-40B4-BE49-F238E27FC236}">
                <a16:creationId xmlns:a16="http://schemas.microsoft.com/office/drawing/2014/main" id="{7CBE2011-87D8-2636-5997-7648880D4346}"/>
              </a:ext>
            </a:extLst>
          </p:cNvPr>
          <p:cNvSpPr txBox="1"/>
          <p:nvPr/>
        </p:nvSpPr>
        <p:spPr>
          <a:xfrm>
            <a:off x="432000" y="3713928"/>
            <a:ext cx="8402400" cy="954107"/>
          </a:xfrm>
          <a:prstGeom prst="rect">
            <a:avLst/>
          </a:prstGeom>
          <a:noFill/>
        </p:spPr>
        <p:txBody>
          <a:bodyPr wrap="square" rtlCol="0">
            <a:spAutoFit/>
          </a:bodyPr>
          <a:lstStyle/>
          <a:p>
            <a:r>
              <a:rPr lang="fr-FR" sz="1400" dirty="0">
                <a:latin typeface="Bahnschrift SemiBold" panose="020B0502040204020203" pitchFamily="34" charset="0"/>
              </a:rPr>
              <a:t>Informations</a:t>
            </a:r>
          </a:p>
          <a:p>
            <a:pPr marL="285750" indent="-285750">
              <a:buFont typeface="Arial" panose="020B0604020202020204" pitchFamily="34" charset="0"/>
              <a:buChar char="•"/>
            </a:pPr>
            <a:r>
              <a:rPr lang="fr-FR" sz="1400" dirty="0">
                <a:latin typeface="Bahnschrift SemiLight" panose="020B0502040204020203" pitchFamily="34" charset="0"/>
              </a:rPr>
              <a:t>Les différents traitements sont indépendamment paramétrés</a:t>
            </a:r>
          </a:p>
          <a:p>
            <a:pPr marL="285750" indent="-285750">
              <a:buFont typeface="Arial" panose="020B0604020202020204" pitchFamily="34" charset="0"/>
              <a:buChar char="•"/>
            </a:pPr>
            <a:r>
              <a:rPr lang="fr-FR" sz="1400" dirty="0">
                <a:latin typeface="Bahnschrift SemiLight" panose="020B0502040204020203" pitchFamily="34" charset="0"/>
              </a:rPr>
              <a:t>Certains paramètres de la simulation sont restreints à des intervalles</a:t>
            </a:r>
          </a:p>
          <a:p>
            <a:pPr marL="285750" indent="-285750">
              <a:buFont typeface="Arial" panose="020B0604020202020204" pitchFamily="34" charset="0"/>
              <a:buChar char="•"/>
            </a:pPr>
            <a:r>
              <a:rPr lang="fr-FR" sz="1400" dirty="0">
                <a:latin typeface="Bahnschrift SemiLight" panose="020B0502040204020203" pitchFamily="34" charset="0"/>
              </a:rPr>
              <a:t>Les traitements influent sur la température de sortie et la durée de la simulation</a:t>
            </a:r>
          </a:p>
        </p:txBody>
      </p:sp>
    </p:spTree>
    <p:extLst>
      <p:ext uri="{BB962C8B-B14F-4D97-AF65-F5344CB8AC3E}">
        <p14:creationId xmlns:p14="http://schemas.microsoft.com/office/powerpoint/2010/main" val="38886959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FA562A-6951-F92B-4E7B-4B52637EB9AC}"/>
            </a:ext>
          </a:extLst>
        </p:cNvPr>
        <p:cNvGrpSpPr/>
        <p:nvPr/>
      </p:nvGrpSpPr>
      <p:grpSpPr>
        <a:xfrm>
          <a:off x="0" y="0"/>
          <a:ext cx="0" cy="0"/>
          <a:chOff x="0" y="0"/>
          <a:chExt cx="0" cy="0"/>
        </a:xfrm>
      </p:grpSpPr>
      <p:sp>
        <p:nvSpPr>
          <p:cNvPr id="3" name="Espace réservé du texte 2">
            <a:extLst>
              <a:ext uri="{FF2B5EF4-FFF2-40B4-BE49-F238E27FC236}">
                <a16:creationId xmlns:a16="http://schemas.microsoft.com/office/drawing/2014/main" id="{4FC8163E-24D3-4372-2F0A-6C641505B8D0}"/>
              </a:ext>
            </a:extLst>
          </p:cNvPr>
          <p:cNvSpPr>
            <a:spLocks noGrp="1"/>
          </p:cNvSpPr>
          <p:nvPr>
            <p:ph type="body" sz="quarter" idx="13"/>
          </p:nvPr>
        </p:nvSpPr>
        <p:spPr/>
        <p:txBody>
          <a:bodyPr>
            <a:normAutofit fontScale="92500" lnSpcReduction="10000"/>
          </a:bodyPr>
          <a:lstStyle/>
          <a:p>
            <a:r>
              <a:rPr lang="fr-FR" dirty="0"/>
              <a:t>III. Objectifs</a:t>
            </a:r>
          </a:p>
        </p:txBody>
      </p:sp>
      <p:sp>
        <p:nvSpPr>
          <p:cNvPr id="6" name="ZoneTexte 5">
            <a:extLst>
              <a:ext uri="{FF2B5EF4-FFF2-40B4-BE49-F238E27FC236}">
                <a16:creationId xmlns:a16="http://schemas.microsoft.com/office/drawing/2014/main" id="{29D21893-522E-7580-43A0-12C599EC26A2}"/>
              </a:ext>
            </a:extLst>
          </p:cNvPr>
          <p:cNvSpPr txBox="1"/>
          <p:nvPr/>
        </p:nvSpPr>
        <p:spPr>
          <a:xfrm>
            <a:off x="432000" y="632334"/>
            <a:ext cx="6912000" cy="2554545"/>
          </a:xfrm>
          <a:prstGeom prst="rect">
            <a:avLst/>
          </a:prstGeom>
          <a:noFill/>
        </p:spPr>
        <p:txBody>
          <a:bodyPr wrap="square" rtlCol="0">
            <a:spAutoFit/>
          </a:bodyPr>
          <a:lstStyle/>
          <a:p>
            <a:r>
              <a:rPr lang="fr-FR" sz="1600" dirty="0">
                <a:latin typeface="Bahnschrift SemiBold" panose="020B0502040204020203" pitchFamily="34" charset="0"/>
              </a:rPr>
              <a:t>Objectifs</a:t>
            </a:r>
          </a:p>
          <a:p>
            <a:pPr marL="285750" indent="-285750">
              <a:buFont typeface="Arial" panose="020B0604020202020204" pitchFamily="34" charset="0"/>
              <a:buChar char="•"/>
            </a:pPr>
            <a:r>
              <a:rPr lang="fr-FR" sz="1600" dirty="0">
                <a:latin typeface="Bahnschrift SemiLight" panose="020B0502040204020203" pitchFamily="34" charset="0"/>
              </a:rPr>
              <a:t> Trouver un cadre de modélisation du signal température en fonction du temps et des paramètres de simulation, le plus précis, interprétable et rapide possible. L’interprétabilité pourra notamment se faire sur une clarification des rôles et des impactes des paramètres de simulation.</a:t>
            </a:r>
          </a:p>
          <a:p>
            <a:pPr marL="285750" indent="-285750">
              <a:buFont typeface="Arial" panose="020B0604020202020204" pitchFamily="34" charset="0"/>
              <a:buChar char="•"/>
            </a:pPr>
            <a:endParaRPr lang="fr-FR" sz="1600" dirty="0">
              <a:latin typeface="Bahnschrift SemiLight" panose="020B0502040204020203" pitchFamily="34" charset="0"/>
            </a:endParaRPr>
          </a:p>
          <a:p>
            <a:pPr marL="285750" indent="-285750">
              <a:buFont typeface="Arial" panose="020B0604020202020204" pitchFamily="34" charset="0"/>
              <a:buChar char="•"/>
            </a:pPr>
            <a:r>
              <a:rPr lang="fr-FR" sz="1600" dirty="0">
                <a:latin typeface="Bahnschrift SemiLight" panose="020B0502040204020203" pitchFamily="34" charset="0"/>
              </a:rPr>
              <a:t>Quantifier l’erreur de précision, </a:t>
            </a:r>
            <a:r>
              <a:rPr lang="fr-FR" sz="1600" dirty="0" err="1">
                <a:latin typeface="Bahnschrift SemiLight" panose="020B0502040204020203" pitchFamily="34" charset="0"/>
              </a:rPr>
              <a:t>sur-estimation</a:t>
            </a:r>
            <a:r>
              <a:rPr lang="fr-FR" sz="1600" dirty="0">
                <a:latin typeface="Bahnschrift SemiLight" panose="020B0502040204020203" pitchFamily="34" charset="0"/>
              </a:rPr>
              <a:t>, et l’écart maximal du modèle par rapport aux simulations sur lesquelles le modèle s’entraîne, et sur lesquelles le modèle n’a jamais été entraîné.</a:t>
            </a:r>
          </a:p>
        </p:txBody>
      </p:sp>
      <p:sp>
        <p:nvSpPr>
          <p:cNvPr id="8" name="ZoneTexte 7">
            <a:extLst>
              <a:ext uri="{FF2B5EF4-FFF2-40B4-BE49-F238E27FC236}">
                <a16:creationId xmlns:a16="http://schemas.microsoft.com/office/drawing/2014/main" id="{12A35EBF-0565-4DF1-B09A-8DC0F71A3F95}"/>
              </a:ext>
            </a:extLst>
          </p:cNvPr>
          <p:cNvSpPr txBox="1"/>
          <p:nvPr/>
        </p:nvSpPr>
        <p:spPr>
          <a:xfrm>
            <a:off x="432000" y="3625709"/>
            <a:ext cx="6912000" cy="1046440"/>
          </a:xfrm>
          <a:prstGeom prst="rect">
            <a:avLst/>
          </a:prstGeom>
          <a:noFill/>
        </p:spPr>
        <p:txBody>
          <a:bodyPr wrap="square" rtlCol="0">
            <a:spAutoFit/>
          </a:bodyPr>
          <a:lstStyle/>
          <a:p>
            <a:r>
              <a:rPr lang="fr-FR" sz="1600" dirty="0">
                <a:latin typeface="Bahnschrift SemiBold" panose="020B0502040204020203" pitchFamily="34" charset="0"/>
              </a:rPr>
              <a:t>Contraintes</a:t>
            </a:r>
          </a:p>
          <a:p>
            <a:pPr marL="285750" indent="-285750">
              <a:buFont typeface="Arial" panose="020B0604020202020204" pitchFamily="34" charset="0"/>
              <a:buChar char="•"/>
            </a:pPr>
            <a:r>
              <a:rPr lang="fr-FR" sz="1600" dirty="0">
                <a:latin typeface="Bahnschrift SemiLight" panose="020B0502040204020203" pitchFamily="34" charset="0"/>
              </a:rPr>
              <a:t>Code principal en Python</a:t>
            </a:r>
          </a:p>
          <a:p>
            <a:pPr marL="285750" indent="-285750">
              <a:buFont typeface="Arial" panose="020B0604020202020204" pitchFamily="34" charset="0"/>
              <a:buChar char="•"/>
            </a:pPr>
            <a:r>
              <a:rPr lang="fr-FR" sz="1600" dirty="0">
                <a:latin typeface="Bahnschrift SemiLight" panose="020B0502040204020203" pitchFamily="34" charset="0"/>
              </a:rPr>
              <a:t>Uniquement de l’apprentissage supervisé ou non-supervisé </a:t>
            </a:r>
          </a:p>
          <a:p>
            <a:r>
              <a:rPr lang="fr-FR" sz="1400" dirty="0">
                <a:latin typeface="Bahnschrift SemiLight" panose="020B0502040204020203" pitchFamily="34" charset="0"/>
              </a:rPr>
              <a:t>(pas de </a:t>
            </a:r>
            <a:r>
              <a:rPr lang="fr-FR" sz="1400" dirty="0" err="1">
                <a:latin typeface="Bahnschrift SemiLight" panose="020B0502040204020203" pitchFamily="34" charset="0"/>
              </a:rPr>
              <a:t>reinforcement</a:t>
            </a:r>
            <a:r>
              <a:rPr lang="fr-FR" sz="1400" dirty="0">
                <a:latin typeface="Bahnschrift SemiLight" panose="020B0502040204020203" pitchFamily="34" charset="0"/>
              </a:rPr>
              <a:t> </a:t>
            </a:r>
            <a:r>
              <a:rPr lang="fr-FR" sz="1400" dirty="0" err="1">
                <a:latin typeface="Bahnschrift SemiLight" panose="020B0502040204020203" pitchFamily="34" charset="0"/>
              </a:rPr>
              <a:t>learning</a:t>
            </a:r>
            <a:r>
              <a:rPr lang="fr-FR" sz="1400" dirty="0">
                <a:latin typeface="Bahnschrift SemiLight" panose="020B0502040204020203" pitchFamily="34" charset="0"/>
              </a:rPr>
              <a:t> ou de </a:t>
            </a:r>
            <a:r>
              <a:rPr lang="fr-FR" sz="1400" dirty="0" err="1">
                <a:latin typeface="Bahnschrift SemiLight" panose="020B0502040204020203" pitchFamily="34" charset="0"/>
              </a:rPr>
              <a:t>LLMs</a:t>
            </a:r>
            <a:r>
              <a:rPr lang="fr-FR" sz="1400" dirty="0">
                <a:latin typeface="Bahnschrift SemiLight" panose="020B0502040204020203" pitchFamily="34" charset="0"/>
              </a:rPr>
              <a:t>)</a:t>
            </a:r>
          </a:p>
        </p:txBody>
      </p:sp>
    </p:spTree>
    <p:extLst>
      <p:ext uri="{BB962C8B-B14F-4D97-AF65-F5344CB8AC3E}">
        <p14:creationId xmlns:p14="http://schemas.microsoft.com/office/powerpoint/2010/main" val="309784698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C0AA1F-3465-3428-45B8-21CE624AEE9B}"/>
            </a:ext>
          </a:extLst>
        </p:cNvPr>
        <p:cNvGrpSpPr/>
        <p:nvPr/>
      </p:nvGrpSpPr>
      <p:grpSpPr>
        <a:xfrm>
          <a:off x="0" y="0"/>
          <a:ext cx="0" cy="0"/>
          <a:chOff x="0" y="0"/>
          <a:chExt cx="0" cy="0"/>
        </a:xfrm>
      </p:grpSpPr>
      <p:sp>
        <p:nvSpPr>
          <p:cNvPr id="3" name="Espace réservé du texte 2">
            <a:extLst>
              <a:ext uri="{FF2B5EF4-FFF2-40B4-BE49-F238E27FC236}">
                <a16:creationId xmlns:a16="http://schemas.microsoft.com/office/drawing/2014/main" id="{099179F3-CE98-573E-F602-B1BA92C3ACF7}"/>
              </a:ext>
            </a:extLst>
          </p:cNvPr>
          <p:cNvSpPr>
            <a:spLocks noGrp="1"/>
          </p:cNvSpPr>
          <p:nvPr>
            <p:ph type="body" sz="quarter" idx="13"/>
          </p:nvPr>
        </p:nvSpPr>
        <p:spPr/>
        <p:txBody>
          <a:bodyPr>
            <a:normAutofit fontScale="92500" lnSpcReduction="10000"/>
          </a:bodyPr>
          <a:lstStyle/>
          <a:p>
            <a:r>
              <a:rPr lang="fr-FR" dirty="0"/>
              <a:t>III. Objectifs</a:t>
            </a:r>
          </a:p>
        </p:txBody>
      </p:sp>
      <p:sp>
        <p:nvSpPr>
          <p:cNvPr id="6" name="ZoneTexte 5">
            <a:extLst>
              <a:ext uri="{FF2B5EF4-FFF2-40B4-BE49-F238E27FC236}">
                <a16:creationId xmlns:a16="http://schemas.microsoft.com/office/drawing/2014/main" id="{40E51433-6352-D614-9642-89A8B6F13F6E}"/>
              </a:ext>
            </a:extLst>
          </p:cNvPr>
          <p:cNvSpPr txBox="1"/>
          <p:nvPr/>
        </p:nvSpPr>
        <p:spPr>
          <a:xfrm>
            <a:off x="432000" y="632334"/>
            <a:ext cx="6912000" cy="584775"/>
          </a:xfrm>
          <a:prstGeom prst="rect">
            <a:avLst/>
          </a:prstGeom>
          <a:noFill/>
        </p:spPr>
        <p:txBody>
          <a:bodyPr wrap="square" rtlCol="0">
            <a:spAutoFit/>
          </a:bodyPr>
          <a:lstStyle/>
          <a:p>
            <a:r>
              <a:rPr lang="fr-FR" sz="1600" dirty="0">
                <a:latin typeface="Bahnschrift SemiBold" panose="020B0502040204020203" pitchFamily="34" charset="0"/>
              </a:rPr>
              <a:t>Jeu de données :</a:t>
            </a:r>
          </a:p>
          <a:p>
            <a:r>
              <a:rPr lang="fr-FR" sz="1600" dirty="0">
                <a:latin typeface="Bahnschrift SemiLight" panose="020B0502040204020203" pitchFamily="34" charset="0"/>
              </a:rPr>
              <a:t>400 simulations numériques avec paramètres associés (15) :</a:t>
            </a:r>
          </a:p>
        </p:txBody>
      </p:sp>
      <p:pic>
        <p:nvPicPr>
          <p:cNvPr id="5" name="Image 4">
            <a:extLst>
              <a:ext uri="{FF2B5EF4-FFF2-40B4-BE49-F238E27FC236}">
                <a16:creationId xmlns:a16="http://schemas.microsoft.com/office/drawing/2014/main" id="{D9E496C1-9854-4A80-7CCB-0146EE968071}"/>
              </a:ext>
            </a:extLst>
          </p:cNvPr>
          <p:cNvPicPr>
            <a:picLocks noChangeAspect="1"/>
          </p:cNvPicPr>
          <p:nvPr/>
        </p:nvPicPr>
        <p:blipFill>
          <a:blip r:embed="rId2"/>
          <a:stretch>
            <a:fillRect/>
          </a:stretch>
        </p:blipFill>
        <p:spPr>
          <a:xfrm>
            <a:off x="2904910" y="2155612"/>
            <a:ext cx="5418290" cy="1493649"/>
          </a:xfrm>
          <a:prstGeom prst="rect">
            <a:avLst/>
          </a:prstGeom>
        </p:spPr>
      </p:pic>
      <p:pic>
        <p:nvPicPr>
          <p:cNvPr id="8" name="Image 7">
            <a:extLst>
              <a:ext uri="{FF2B5EF4-FFF2-40B4-BE49-F238E27FC236}">
                <a16:creationId xmlns:a16="http://schemas.microsoft.com/office/drawing/2014/main" id="{F9549F69-56E7-616D-5949-8EE2BE36C63E}"/>
              </a:ext>
            </a:extLst>
          </p:cNvPr>
          <p:cNvPicPr>
            <a:picLocks noChangeAspect="1"/>
          </p:cNvPicPr>
          <p:nvPr/>
        </p:nvPicPr>
        <p:blipFill>
          <a:blip r:embed="rId3"/>
          <a:stretch>
            <a:fillRect/>
          </a:stretch>
        </p:blipFill>
        <p:spPr>
          <a:xfrm>
            <a:off x="909077" y="2033871"/>
            <a:ext cx="975445" cy="2270957"/>
          </a:xfrm>
          <a:prstGeom prst="rect">
            <a:avLst/>
          </a:prstGeom>
        </p:spPr>
      </p:pic>
      <p:pic>
        <p:nvPicPr>
          <p:cNvPr id="10" name="Image 9">
            <a:extLst>
              <a:ext uri="{FF2B5EF4-FFF2-40B4-BE49-F238E27FC236}">
                <a16:creationId xmlns:a16="http://schemas.microsoft.com/office/drawing/2014/main" id="{F5844E16-AB14-363A-25DE-5683EB144AC3}"/>
              </a:ext>
            </a:extLst>
          </p:cNvPr>
          <p:cNvPicPr>
            <a:picLocks noChangeAspect="1"/>
          </p:cNvPicPr>
          <p:nvPr/>
        </p:nvPicPr>
        <p:blipFill>
          <a:blip r:embed="rId4"/>
          <a:srcRect b="49693"/>
          <a:stretch>
            <a:fillRect/>
          </a:stretch>
        </p:blipFill>
        <p:spPr>
          <a:xfrm>
            <a:off x="505877" y="1741782"/>
            <a:ext cx="1577477" cy="279864"/>
          </a:xfrm>
          <a:prstGeom prst="rect">
            <a:avLst/>
          </a:prstGeom>
        </p:spPr>
      </p:pic>
      <p:pic>
        <p:nvPicPr>
          <p:cNvPr id="12" name="Image 11">
            <a:extLst>
              <a:ext uri="{FF2B5EF4-FFF2-40B4-BE49-F238E27FC236}">
                <a16:creationId xmlns:a16="http://schemas.microsoft.com/office/drawing/2014/main" id="{0BFE33DA-B9F4-F976-1BF2-DEB5738BFFBA}"/>
              </a:ext>
            </a:extLst>
          </p:cNvPr>
          <p:cNvPicPr>
            <a:picLocks noChangeAspect="1"/>
          </p:cNvPicPr>
          <p:nvPr/>
        </p:nvPicPr>
        <p:blipFill>
          <a:blip r:embed="rId4"/>
          <a:srcRect t="54249"/>
          <a:stretch>
            <a:fillRect/>
          </a:stretch>
        </p:blipFill>
        <p:spPr>
          <a:xfrm>
            <a:off x="2497394" y="1779357"/>
            <a:ext cx="1577477" cy="254514"/>
          </a:xfrm>
          <a:prstGeom prst="rect">
            <a:avLst/>
          </a:prstGeom>
        </p:spPr>
      </p:pic>
      <p:sp>
        <p:nvSpPr>
          <p:cNvPr id="13" name="Accolade ouvrante 12">
            <a:extLst>
              <a:ext uri="{FF2B5EF4-FFF2-40B4-BE49-F238E27FC236}">
                <a16:creationId xmlns:a16="http://schemas.microsoft.com/office/drawing/2014/main" id="{29480943-5DB4-AB8D-41D5-A4AB5B9A5EF3}"/>
              </a:ext>
            </a:extLst>
          </p:cNvPr>
          <p:cNvSpPr/>
          <p:nvPr/>
        </p:nvSpPr>
        <p:spPr>
          <a:xfrm>
            <a:off x="856800" y="2033871"/>
            <a:ext cx="52277" cy="2270957"/>
          </a:xfrm>
          <a:prstGeom prst="leftBrace">
            <a:avLst/>
          </a:prstGeom>
          <a:ln w="9525"/>
        </p:spPr>
        <p:style>
          <a:lnRef idx="2">
            <a:schemeClr val="dk1"/>
          </a:lnRef>
          <a:fillRef idx="0">
            <a:schemeClr val="dk1"/>
          </a:fillRef>
          <a:effectRef idx="1">
            <a:schemeClr val="dk1"/>
          </a:effectRef>
          <a:fontRef idx="minor">
            <a:schemeClr val="tx1"/>
          </a:fontRef>
        </p:style>
        <p:txBody>
          <a:bodyPr rtlCol="0" anchor="ctr"/>
          <a:lstStyle/>
          <a:p>
            <a:pPr algn="ctr"/>
            <a:endParaRPr lang="fr-FR"/>
          </a:p>
        </p:txBody>
      </p:sp>
    </p:spTree>
    <p:extLst>
      <p:ext uri="{BB962C8B-B14F-4D97-AF65-F5344CB8AC3E}">
        <p14:creationId xmlns:p14="http://schemas.microsoft.com/office/powerpoint/2010/main" val="217002662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14D896-DC88-1E68-F830-67AF1C7E1CEB}"/>
            </a:ext>
          </a:extLst>
        </p:cNvPr>
        <p:cNvGrpSpPr/>
        <p:nvPr/>
      </p:nvGrpSpPr>
      <p:grpSpPr>
        <a:xfrm>
          <a:off x="0" y="0"/>
          <a:ext cx="0" cy="0"/>
          <a:chOff x="0" y="0"/>
          <a:chExt cx="0" cy="0"/>
        </a:xfrm>
      </p:grpSpPr>
      <p:sp>
        <p:nvSpPr>
          <p:cNvPr id="3" name="Espace réservé du texte 2">
            <a:extLst>
              <a:ext uri="{FF2B5EF4-FFF2-40B4-BE49-F238E27FC236}">
                <a16:creationId xmlns:a16="http://schemas.microsoft.com/office/drawing/2014/main" id="{91E52559-54B9-A481-B218-2A798F981379}"/>
              </a:ext>
            </a:extLst>
          </p:cNvPr>
          <p:cNvSpPr>
            <a:spLocks noGrp="1"/>
          </p:cNvSpPr>
          <p:nvPr>
            <p:ph type="body" sz="quarter" idx="13"/>
          </p:nvPr>
        </p:nvSpPr>
        <p:spPr/>
        <p:txBody>
          <a:bodyPr>
            <a:normAutofit fontScale="92500" lnSpcReduction="10000"/>
          </a:bodyPr>
          <a:lstStyle/>
          <a:p>
            <a:r>
              <a:rPr lang="fr-FR" dirty="0"/>
              <a:t>III. Objectifs</a:t>
            </a:r>
          </a:p>
        </p:txBody>
      </p:sp>
      <p:sp>
        <p:nvSpPr>
          <p:cNvPr id="6" name="ZoneTexte 5">
            <a:extLst>
              <a:ext uri="{FF2B5EF4-FFF2-40B4-BE49-F238E27FC236}">
                <a16:creationId xmlns:a16="http://schemas.microsoft.com/office/drawing/2014/main" id="{09A59C5E-D957-EF6D-73E7-14F0BA1EB724}"/>
              </a:ext>
            </a:extLst>
          </p:cNvPr>
          <p:cNvSpPr txBox="1"/>
          <p:nvPr/>
        </p:nvSpPr>
        <p:spPr>
          <a:xfrm>
            <a:off x="432000" y="632334"/>
            <a:ext cx="8301600" cy="1642694"/>
          </a:xfrm>
          <a:prstGeom prst="rect">
            <a:avLst/>
          </a:prstGeom>
          <a:noFill/>
        </p:spPr>
        <p:txBody>
          <a:bodyPr wrap="square" rtlCol="0">
            <a:spAutoFit/>
          </a:bodyPr>
          <a:lstStyle/>
          <a:p>
            <a:r>
              <a:rPr lang="fr-FR" sz="1600" dirty="0">
                <a:latin typeface="Bahnschrift SemiBold" panose="020B0502040204020203" pitchFamily="34" charset="0"/>
              </a:rPr>
              <a:t>Critères d’évaluation de la soutenance (20 min) + rapport </a:t>
            </a:r>
            <a:r>
              <a:rPr lang="fr-FR" sz="1600" dirty="0" err="1">
                <a:latin typeface="Bahnschrift SemiBold" panose="020B0502040204020203" pitchFamily="34" charset="0"/>
              </a:rPr>
              <a:t>JypterNotebook</a:t>
            </a:r>
            <a:r>
              <a:rPr lang="fr-FR" sz="1600" dirty="0">
                <a:latin typeface="Bahnschrift SemiBold" panose="020B0502040204020203" pitchFamily="34" charset="0"/>
              </a:rPr>
              <a:t> :</a:t>
            </a:r>
          </a:p>
          <a:p>
            <a:pPr marL="285750" indent="-285750">
              <a:buFont typeface="Arial" panose="020B0604020202020204" pitchFamily="34" charset="0"/>
              <a:buChar char="•"/>
            </a:pPr>
            <a:endParaRPr lang="fr-FR" sz="1600" dirty="0">
              <a:latin typeface="Bahnschrift SemiLight" panose="020B0502040204020203" pitchFamily="34" charset="0"/>
            </a:endParaRPr>
          </a:p>
          <a:p>
            <a:pPr marL="285750" indent="-285750">
              <a:lnSpc>
                <a:spcPct val="150000"/>
              </a:lnSpc>
              <a:buFont typeface="Arial" panose="020B0604020202020204" pitchFamily="34" charset="0"/>
              <a:buChar char="•"/>
            </a:pPr>
            <a:r>
              <a:rPr lang="fr-FR" sz="1600" dirty="0">
                <a:latin typeface="Bahnschrift SemiLight" panose="020B0502040204020203" pitchFamily="34" charset="0"/>
              </a:rPr>
              <a:t>Démarches de la définition du problème jusqu’à l’évaluation du modèle proposé</a:t>
            </a:r>
          </a:p>
          <a:p>
            <a:pPr marL="285750" indent="-285750">
              <a:lnSpc>
                <a:spcPct val="150000"/>
              </a:lnSpc>
              <a:buFont typeface="Arial" panose="020B0604020202020204" pitchFamily="34" charset="0"/>
              <a:buChar char="•"/>
            </a:pPr>
            <a:r>
              <a:rPr lang="fr-FR" sz="1600" dirty="0">
                <a:latin typeface="Bahnschrift SemiLight" panose="020B0502040204020203" pitchFamily="34" charset="0"/>
              </a:rPr>
              <a:t>Etude des données, justification des choix</a:t>
            </a:r>
          </a:p>
          <a:p>
            <a:pPr marL="285750" indent="-285750">
              <a:lnSpc>
                <a:spcPct val="150000"/>
              </a:lnSpc>
              <a:buFont typeface="Arial" panose="020B0604020202020204" pitchFamily="34" charset="0"/>
              <a:buChar char="•"/>
            </a:pPr>
            <a:r>
              <a:rPr lang="fr-FR" sz="1600" dirty="0">
                <a:latin typeface="Bahnschrift SemiLight" panose="020B0502040204020203" pitchFamily="34" charset="0"/>
              </a:rPr>
              <a:t>Atteintes des objectifs</a:t>
            </a:r>
          </a:p>
        </p:txBody>
      </p:sp>
    </p:spTree>
    <p:extLst>
      <p:ext uri="{BB962C8B-B14F-4D97-AF65-F5344CB8AC3E}">
        <p14:creationId xmlns:p14="http://schemas.microsoft.com/office/powerpoint/2010/main" val="276862840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Espace réservé du numéro de diapositive 4">
            <a:extLst>
              <a:ext uri="{FF2B5EF4-FFF2-40B4-BE49-F238E27FC236}">
                <a16:creationId xmlns:a16="http://schemas.microsoft.com/office/drawing/2014/main" id="{FA9B3C7C-E74A-410F-895D-90EBAE75C5EB}"/>
              </a:ext>
            </a:extLst>
          </p:cNvPr>
          <p:cNvSpPr>
            <a:spLocks noGrp="1"/>
          </p:cNvSpPr>
          <p:nvPr>
            <p:ph type="sldNum" sz="quarter" idx="4294967295"/>
          </p:nvPr>
        </p:nvSpPr>
        <p:spPr>
          <a:xfrm>
            <a:off x="7086600" y="4767263"/>
            <a:ext cx="2057400" cy="274637"/>
          </a:xfrm>
        </p:spPr>
        <p:txBody>
          <a:bodyPr/>
          <a:lstStyle/>
          <a:p>
            <a:fld id="{8D2E6C26-9276-43FB-ACCB-44E3A2F4F069}" type="slidenum">
              <a:rPr lang="fr-FR" smtClean="0"/>
              <a:pPr/>
              <a:t>8</a:t>
            </a:fld>
            <a:endParaRPr lang="fr-FR"/>
          </a:p>
        </p:txBody>
      </p:sp>
    </p:spTree>
    <p:extLst>
      <p:ext uri="{BB962C8B-B14F-4D97-AF65-F5344CB8AC3E}">
        <p14:creationId xmlns:p14="http://schemas.microsoft.com/office/powerpoint/2010/main" val="2233573735"/>
      </p:ext>
    </p:extLst>
  </p:cSld>
  <p:clrMapOvr>
    <a:masterClrMapping/>
  </p:clrMapOvr>
</p:sld>
</file>

<file path=ppt/theme/theme1.xml><?xml version="1.0" encoding="utf-8"?>
<a:theme xmlns:a="http://schemas.openxmlformats.org/drawingml/2006/main" name="Conception personnalisé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Thèm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17201571100B21448FB104199A283E90" ma:contentTypeVersion="10" ma:contentTypeDescription="Create a new document." ma:contentTypeScope="" ma:versionID="c2e2607327ff419bc91fd8018e331f6a">
  <xsd:schema xmlns:xsd="http://www.w3.org/2001/XMLSchema" xmlns:xs="http://www.w3.org/2001/XMLSchema" xmlns:p="http://schemas.microsoft.com/office/2006/metadata/properties" xmlns:ns2="cdc1e2e2-ba5b-43bc-aa0d-1c140e038227" xmlns:ns3="0c560703-3b21-48fe-9195-a362533443b3" targetNamespace="http://schemas.microsoft.com/office/2006/metadata/properties" ma:root="true" ma:fieldsID="69be636535b59d4b876842cbdf7b73e6" ns2:_="" ns3:_="">
    <xsd:import namespace="cdc1e2e2-ba5b-43bc-aa0d-1c140e038227"/>
    <xsd:import namespace="0c560703-3b21-48fe-9195-a362533443b3"/>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3:SharedWithUsers" minOccurs="0"/>
                <xsd:element ref="ns3:SharedWithDetails" minOccurs="0"/>
                <xsd:element ref="ns2:MediaServiceDateTaken" minOccurs="0"/>
                <xsd:element ref="ns2:MediaServiceGenerationTime" minOccurs="0"/>
                <xsd:element ref="ns2:MediaServiceEventHashCode"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cdc1e2e2-ba5b-43bc-aa0d-1c140e038227"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MediaServiceDateTaken" ma:index="14" nillable="true" ma:displayName="MediaServiceDateTaken" ma:hidden="true" ma:indexed="true" ma:internalName="MediaServiceDateTaken" ma:readOnly="true">
      <xsd:simpleType>
        <xsd:restriction base="dms:Text"/>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LengthInSeconds" ma:index="17" nillable="true" ma:displayName="MediaLengthInSeconds" ma:hidden="true"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0c560703-3b21-48fe-9195-a362533443b3"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SharedWithUsers xmlns="0c560703-3b21-48fe-9195-a362533443b3">
      <UserInfo>
        <DisplayName/>
        <AccountId xsi:nil="true"/>
        <AccountType/>
      </UserInfo>
    </SharedWithUsers>
    <MediaLengthInSeconds xmlns="cdc1e2e2-ba5b-43bc-aa0d-1c140e038227"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035DC7D0-63D5-437E-B55B-14F1C16048BF}">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cdc1e2e2-ba5b-43bc-aa0d-1c140e038227"/>
    <ds:schemaRef ds:uri="0c560703-3b21-48fe-9195-a362533443b3"/>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B977837A-7943-4B33-9C62-11BEEED10B31}">
  <ds:schemaRefs>
    <ds:schemaRef ds:uri="http://purl.org/dc/terms/"/>
    <ds:schemaRef ds:uri="http://schemas.openxmlformats.org/package/2006/metadata/core-properties"/>
    <ds:schemaRef ds:uri="http://schemas.microsoft.com/office/2006/documentManagement/types"/>
    <ds:schemaRef ds:uri="http://schemas.microsoft.com/office/infopath/2007/PartnerControls"/>
    <ds:schemaRef ds:uri="http://purl.org/dc/elements/1.1/"/>
    <ds:schemaRef ds:uri="http://schemas.microsoft.com/office/2006/metadata/properties"/>
    <ds:schemaRef ds:uri="691c30cb-37d2-4866-85d3-09d4385d971d"/>
    <ds:schemaRef ds:uri="http://www.w3.org/XML/1998/namespace"/>
    <ds:schemaRef ds:uri="http://purl.org/dc/dcmitype/"/>
    <ds:schemaRef ds:uri="0c560703-3b21-48fe-9195-a362533443b3"/>
    <ds:schemaRef ds:uri="cdc1e2e2-ba5b-43bc-aa0d-1c140e038227"/>
  </ds:schemaRefs>
</ds:datastoreItem>
</file>

<file path=customXml/itemProps3.xml><?xml version="1.0" encoding="utf-8"?>
<ds:datastoreItem xmlns:ds="http://schemas.openxmlformats.org/officeDocument/2006/customXml" ds:itemID="{5A5ACAC1-F26B-4482-93E2-895159A5D714}">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
  <TotalTime>369</TotalTime>
  <Words>322</Words>
  <Application>Microsoft Office PowerPoint</Application>
  <PresentationFormat>Affichage à l'écran (16:9)</PresentationFormat>
  <Paragraphs>54</Paragraphs>
  <Slides>8</Slides>
  <Notes>4</Notes>
  <HiddenSlides>0</HiddenSlides>
  <MMClips>0</MMClips>
  <ScaleCrop>false</ScaleCrop>
  <HeadingPairs>
    <vt:vector size="6" baseType="variant">
      <vt:variant>
        <vt:lpstr>Polices utilisées</vt:lpstr>
      </vt:variant>
      <vt:variant>
        <vt:i4>8</vt:i4>
      </vt:variant>
      <vt:variant>
        <vt:lpstr>Thème</vt:lpstr>
      </vt:variant>
      <vt:variant>
        <vt:i4>1</vt:i4>
      </vt:variant>
      <vt:variant>
        <vt:lpstr>Titres des diapositives</vt:lpstr>
      </vt:variant>
      <vt:variant>
        <vt:i4>8</vt:i4>
      </vt:variant>
    </vt:vector>
  </HeadingPairs>
  <TitlesOfParts>
    <vt:vector size="17" baseType="lpstr">
      <vt:lpstr>Aptos</vt:lpstr>
      <vt:lpstr>Arial</vt:lpstr>
      <vt:lpstr>Bahnschrift Light</vt:lpstr>
      <vt:lpstr>Bahnschrift SemiBold</vt:lpstr>
      <vt:lpstr>Bahnschrift SemiLight</vt:lpstr>
      <vt:lpstr>Calibri</vt:lpstr>
      <vt:lpstr>Michelin Black</vt:lpstr>
      <vt:lpstr>Michelin Light</vt:lpstr>
      <vt:lpstr>Conception personnalisée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Company>MICHELIN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Présentation PowerPoint</dc:title>
  <dc:creator>emeline.queguiner1@michelin.com</dc:creator>
  <cp:lastModifiedBy>Maxime Dehondt</cp:lastModifiedBy>
  <cp:revision>78</cp:revision>
  <dcterms:created xsi:type="dcterms:W3CDTF">2018-02-08T07:05:46Z</dcterms:created>
  <dcterms:modified xsi:type="dcterms:W3CDTF">2026-10-12T08:48:32Z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0x01010017201571100B21448FB104199A283E90</vt:lpwstr>
  </property>
  <property fmtid="{D5CDD505-2E9C-101B-9397-08002B2CF9AE}" pid="3" name="MSIP_Label_09e9a456-2778-4ca9-be06-1190b1e1118a_Enabled">
    <vt:lpwstr>true</vt:lpwstr>
  </property>
  <property fmtid="{D5CDD505-2E9C-101B-9397-08002B2CF9AE}" pid="4" name="MSIP_Label_09e9a456-2778-4ca9-be06-1190b1e1118a_SetDate">
    <vt:lpwstr>2021-07-20T08:29:07Z</vt:lpwstr>
  </property>
  <property fmtid="{D5CDD505-2E9C-101B-9397-08002B2CF9AE}" pid="5" name="MSIP_Label_09e9a456-2778-4ca9-be06-1190b1e1118a_Method">
    <vt:lpwstr>Standard</vt:lpwstr>
  </property>
  <property fmtid="{D5CDD505-2E9C-101B-9397-08002B2CF9AE}" pid="6" name="MSIP_Label_09e9a456-2778-4ca9-be06-1190b1e1118a_Name">
    <vt:lpwstr>D3</vt:lpwstr>
  </property>
  <property fmtid="{D5CDD505-2E9C-101B-9397-08002B2CF9AE}" pid="7" name="MSIP_Label_09e9a456-2778-4ca9-be06-1190b1e1118a_SiteId">
    <vt:lpwstr>658ba197-6c73-4fea-91bd-1c7d8de6bf2c</vt:lpwstr>
  </property>
  <property fmtid="{D5CDD505-2E9C-101B-9397-08002B2CF9AE}" pid="8" name="MSIP_Label_09e9a456-2778-4ca9-be06-1190b1e1118a_ActionId">
    <vt:lpwstr>7d53c3b8-935d-4091-9c06-d15fbfd71aa7</vt:lpwstr>
  </property>
  <property fmtid="{D5CDD505-2E9C-101B-9397-08002B2CF9AE}" pid="9" name="MSIP_Label_09e9a456-2778-4ca9-be06-1190b1e1118a_ContentBits">
    <vt:lpwstr>0</vt:lpwstr>
  </property>
  <property fmtid="{D5CDD505-2E9C-101B-9397-08002B2CF9AE}" pid="10" name="Order">
    <vt:r8>1202800</vt:r8>
  </property>
  <property fmtid="{D5CDD505-2E9C-101B-9397-08002B2CF9AE}" pid="11" name="xd_Signature">
    <vt:bool>false</vt:bool>
  </property>
  <property fmtid="{D5CDD505-2E9C-101B-9397-08002B2CF9AE}" pid="12" name="xd_ProgID">
    <vt:lpwstr/>
  </property>
  <property fmtid="{D5CDD505-2E9C-101B-9397-08002B2CF9AE}" pid="13" name="_SourceUrl">
    <vt:lpwstr/>
  </property>
  <property fmtid="{D5CDD505-2E9C-101B-9397-08002B2CF9AE}" pid="14" name="_SharedFileIndex">
    <vt:lpwstr/>
  </property>
  <property fmtid="{D5CDD505-2E9C-101B-9397-08002B2CF9AE}" pid="15" name="ComplianceAssetId">
    <vt:lpwstr/>
  </property>
  <property fmtid="{D5CDD505-2E9C-101B-9397-08002B2CF9AE}" pid="16" name="TemplateUrl">
    <vt:lpwstr/>
  </property>
  <property fmtid="{D5CDD505-2E9C-101B-9397-08002B2CF9AE}" pid="17" name="_ExtendedDescription">
    <vt:lpwstr/>
  </property>
  <property fmtid="{D5CDD505-2E9C-101B-9397-08002B2CF9AE}" pid="18" name="TriggerFlowInfo">
    <vt:lpwstr/>
  </property>
</Properties>
</file>